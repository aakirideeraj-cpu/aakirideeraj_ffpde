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420" y="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9739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EDE6"/>
        </a:solidFill>
        <a:effectLst/>
      </p:bgPr>
    </p:bg>
    <p:spTree>
      <p:nvGrpSpPr>
        <p:cNvPr id="1" name=""/>
        <p:cNvGrpSpPr/>
        <p:nvPr/>
      </p:nvGrpSpPr>
      <p:grpSpPr>
        <a:xfrm>
          <a:off x="0" y="0"/>
          <a:ext cx="0" cy="0"/>
          <a:chOff x="0" y="0"/>
          <a:chExt cx="0" cy="0"/>
        </a:xfrm>
      </p:grpSpPr>
      <p:sp>
        <p:nvSpPr>
          <p:cNvPr id="2" name="Shape 0"/>
          <p:cNvSpPr/>
          <p:nvPr/>
        </p:nvSpPr>
        <p:spPr>
          <a:xfrm>
            <a:off x="7863840" y="-365760"/>
            <a:ext cx="1645920" cy="1645920"/>
          </a:xfrm>
          <a:prstGeom prst="ellipse">
            <a:avLst/>
          </a:prstGeom>
          <a:solidFill>
            <a:srgbClr val="C4A882">
              <a:alpha val="85000"/>
            </a:srgbClr>
          </a:solidFill>
          <a:ln w="12700">
            <a:solidFill>
              <a:srgbClr val="C4A882">
                <a:alpha val="85000"/>
              </a:srgbClr>
            </a:solidFill>
            <a:prstDash val="solid"/>
          </a:ln>
        </p:spPr>
      </p:sp>
      <p:sp>
        <p:nvSpPr>
          <p:cNvPr id="3" name="Shape 1"/>
          <p:cNvSpPr/>
          <p:nvPr/>
        </p:nvSpPr>
        <p:spPr>
          <a:xfrm>
            <a:off x="-548640" y="457200"/>
            <a:ext cx="1645920" cy="2011680"/>
          </a:xfrm>
          <a:prstGeom prst="ellipse">
            <a:avLst/>
          </a:prstGeom>
          <a:solidFill>
            <a:srgbClr val="D9C9B0">
              <a:alpha val="70000"/>
            </a:srgbClr>
          </a:solidFill>
          <a:ln w="12700">
            <a:solidFill>
              <a:srgbClr val="D9C9B0">
                <a:alpha val="70000"/>
              </a:srgbClr>
            </a:solidFill>
            <a:prstDash val="solid"/>
          </a:ln>
        </p:spPr>
      </p:sp>
      <p:sp>
        <p:nvSpPr>
          <p:cNvPr id="4" name="Shape 2"/>
          <p:cNvSpPr/>
          <p:nvPr/>
        </p:nvSpPr>
        <p:spPr>
          <a:xfrm>
            <a:off x="-365760" y="3474720"/>
            <a:ext cx="1828800" cy="1645920"/>
          </a:xfrm>
          <a:prstGeom prst="ellipse">
            <a:avLst/>
          </a:prstGeom>
          <a:solidFill>
            <a:srgbClr val="D9C9B0">
              <a:alpha val="65000"/>
            </a:srgbClr>
          </a:solidFill>
          <a:ln w="12700">
            <a:solidFill>
              <a:srgbClr val="D9C9B0">
                <a:alpha val="65000"/>
              </a:srgbClr>
            </a:solidFill>
            <a:prstDash val="solid"/>
          </a:ln>
        </p:spPr>
      </p:sp>
      <p:sp>
        <p:nvSpPr>
          <p:cNvPr id="5" name="Shape 3"/>
          <p:cNvSpPr/>
          <p:nvPr/>
        </p:nvSpPr>
        <p:spPr>
          <a:xfrm>
            <a:off x="8046720" y="4023360"/>
            <a:ext cx="1645920" cy="1463040"/>
          </a:xfrm>
          <a:prstGeom prst="ellipse">
            <a:avLst/>
          </a:prstGeom>
          <a:solidFill>
            <a:srgbClr val="C4A882">
              <a:alpha val="80000"/>
            </a:srgbClr>
          </a:solidFill>
          <a:ln w="12700">
            <a:solidFill>
              <a:srgbClr val="C4A882">
                <a:alpha val="80000"/>
              </a:srgbClr>
            </a:solidFill>
            <a:prstDash val="solid"/>
          </a:ln>
        </p:spPr>
      </p:sp>
      <p:sp>
        <p:nvSpPr>
          <p:cNvPr id="6" name="Shape 4"/>
          <p:cNvSpPr/>
          <p:nvPr/>
        </p:nvSpPr>
        <p:spPr>
          <a:xfrm>
            <a:off x="6858000" y="3840480"/>
            <a:ext cx="1097280" cy="457200"/>
          </a:xfrm>
          <a:prstGeom prst="ellipse">
            <a:avLst/>
          </a:prstGeom>
          <a:solidFill>
            <a:srgbClr val="000000">
              <a:alpha val="0"/>
            </a:srgbClr>
          </a:solidFill>
          <a:ln w="25400">
            <a:solidFill>
              <a:srgbClr val="C4A882">
                <a:alpha val="70000"/>
              </a:srgbClr>
            </a:solidFill>
            <a:prstDash val="solid"/>
          </a:ln>
        </p:spPr>
      </p:sp>
      <p:sp>
        <p:nvSpPr>
          <p:cNvPr id="7" name="Text 5"/>
          <p:cNvSpPr/>
          <p:nvPr/>
        </p:nvSpPr>
        <p:spPr>
          <a:xfrm>
            <a:off x="457200" y="228600"/>
            <a:ext cx="8229600" cy="640080"/>
          </a:xfrm>
          <a:prstGeom prst="rect">
            <a:avLst/>
          </a:prstGeom>
          <a:noFill/>
          <a:ln/>
        </p:spPr>
        <p:txBody>
          <a:bodyPr wrap="square" rtlCol="0" anchor="ctr"/>
          <a:lstStyle/>
          <a:p>
            <a:pPr marL="0" indent="0" algn="ctr">
              <a:buNone/>
            </a:pPr>
            <a:r>
              <a:rPr lang="en-US" sz="2400" b="1" dirty="0">
                <a:solidFill>
                  <a:srgbClr val="1A1A00"/>
                </a:solidFill>
                <a:latin typeface="Arial Black" pitchFamily="34" charset="0"/>
                <a:ea typeface="Arial Black" pitchFamily="34" charset="-122"/>
                <a:cs typeface="Arial Black" pitchFamily="34" charset="-120"/>
              </a:rPr>
              <a:t>TITLE :</a:t>
            </a:r>
          </a:p>
          <a:p>
            <a:pPr marL="0" indent="0" algn="ctr">
              <a:buNone/>
            </a:pPr>
            <a:r>
              <a:rPr lang="en-US" sz="2400" b="1" dirty="0">
                <a:solidFill>
                  <a:srgbClr val="1A1A00"/>
                </a:solidFill>
                <a:latin typeface="Arial Black" pitchFamily="34" charset="0"/>
                <a:ea typeface="Arial Black" pitchFamily="34" charset="-122"/>
                <a:cs typeface="Arial Black" pitchFamily="34" charset="-120"/>
              </a:rPr>
              <a:t> FUEL FRAUD PATTERN DETECTION ENGINE </a:t>
            </a:r>
            <a:endParaRPr lang="en-US" sz="2400" dirty="0"/>
          </a:p>
        </p:txBody>
      </p:sp>
      <p:sp>
        <p:nvSpPr>
          <p:cNvPr id="8" name="Text 6"/>
          <p:cNvSpPr/>
          <p:nvPr/>
        </p:nvSpPr>
        <p:spPr>
          <a:xfrm>
            <a:off x="2286000" y="1005840"/>
            <a:ext cx="4572000" cy="1097280"/>
          </a:xfrm>
          <a:prstGeom prst="rect">
            <a:avLst/>
          </a:prstGeom>
          <a:noFill/>
          <a:ln/>
        </p:spPr>
        <p:txBody>
          <a:bodyPr wrap="square" rtlCol="0" anchor="ctr"/>
          <a:lstStyle/>
          <a:p>
            <a:pPr marL="0" indent="0" algn="ctr">
              <a:buNone/>
            </a:pPr>
            <a:r>
              <a:rPr lang="en-US" sz="1400" dirty="0">
                <a:solidFill>
                  <a:srgbClr val="3B3000"/>
                </a:solidFill>
                <a:latin typeface="Calibri" pitchFamily="34" charset="0"/>
                <a:ea typeface="Calibri" pitchFamily="34" charset="-122"/>
                <a:cs typeface="Calibri" pitchFamily="34" charset="-120"/>
              </a:rPr>
              <a:t>Student Name: A- DEERAJ</a:t>
            </a:r>
            <a:endParaRPr lang="en-US" sz="1400" dirty="0"/>
          </a:p>
          <a:p>
            <a:pPr marL="0" indent="0" algn="ctr">
              <a:buNone/>
            </a:pPr>
            <a:r>
              <a:rPr lang="en-US" sz="1400" dirty="0">
                <a:solidFill>
                  <a:srgbClr val="3B3000"/>
                </a:solidFill>
                <a:latin typeface="Calibri" pitchFamily="34" charset="0"/>
                <a:ea typeface="Calibri" pitchFamily="34" charset="-122"/>
                <a:cs typeface="Calibri" pitchFamily="34" charset="-120"/>
              </a:rPr>
              <a:t>Student Id: 2520030113</a:t>
            </a:r>
            <a:endParaRPr lang="en-US" sz="1400" dirty="0"/>
          </a:p>
          <a:p>
            <a:pPr marL="0" indent="0" algn="ctr">
              <a:buNone/>
            </a:pPr>
            <a:r>
              <a:rPr lang="en-US" sz="1400" dirty="0">
                <a:solidFill>
                  <a:srgbClr val="3B3000"/>
                </a:solidFill>
                <a:latin typeface="Calibri" pitchFamily="34" charset="0"/>
                <a:ea typeface="Calibri" pitchFamily="34" charset="-122"/>
                <a:cs typeface="Calibri" pitchFamily="34" charset="-120"/>
              </a:rPr>
              <a:t>Cluster: 1</a:t>
            </a:r>
            <a:endParaRPr lang="en-US" sz="1400" dirty="0"/>
          </a:p>
          <a:p>
            <a:pPr marL="0" indent="0" algn="ctr">
              <a:buNone/>
            </a:pPr>
            <a:r>
              <a:rPr lang="en-US" sz="1400" dirty="0">
                <a:solidFill>
                  <a:srgbClr val="3B3000"/>
                </a:solidFill>
                <a:latin typeface="Calibri" pitchFamily="34" charset="0"/>
                <a:ea typeface="Calibri" pitchFamily="34" charset="-122"/>
                <a:cs typeface="Calibri" pitchFamily="34" charset="-120"/>
              </a:rPr>
              <a:t>Section: 1</a:t>
            </a:r>
            <a:endParaRPr lang="en-US" sz="1400" dirty="0"/>
          </a:p>
        </p:txBody>
      </p:sp>
      <p:sp>
        <p:nvSpPr>
          <p:cNvPr id="9" name="Text 7"/>
          <p:cNvSpPr/>
          <p:nvPr/>
        </p:nvSpPr>
        <p:spPr>
          <a:xfrm>
            <a:off x="2286000" y="2286000"/>
            <a:ext cx="4572000" cy="548640"/>
          </a:xfrm>
          <a:prstGeom prst="rect">
            <a:avLst/>
          </a:prstGeom>
          <a:noFill/>
          <a:ln/>
        </p:spPr>
        <p:txBody>
          <a:bodyPr wrap="square" rtlCol="0" anchor="ctr"/>
          <a:lstStyle/>
          <a:p>
            <a:pPr marL="0" indent="0" algn="ctr">
              <a:buNone/>
            </a:pPr>
            <a:r>
              <a:rPr lang="en-US" sz="1400" b="1" dirty="0">
                <a:solidFill>
                  <a:srgbClr val="5C4A00"/>
                </a:solidFill>
                <a:latin typeface="Calibri" pitchFamily="34" charset="0"/>
                <a:ea typeface="Calibri" pitchFamily="34" charset="-122"/>
                <a:cs typeface="Calibri" pitchFamily="34" charset="-120"/>
              </a:rPr>
              <a:t>Under The Guidance</a:t>
            </a:r>
            <a:endParaRPr lang="en-US" sz="1400" dirty="0"/>
          </a:p>
          <a:p>
            <a:pPr marL="0" indent="0" algn="ctr">
              <a:buNone/>
            </a:pPr>
            <a:r>
              <a:rPr lang="en-US" sz="1400" b="1" dirty="0">
                <a:solidFill>
                  <a:srgbClr val="5C4A00"/>
                </a:solidFill>
                <a:latin typeface="Calibri" pitchFamily="34" charset="0"/>
                <a:ea typeface="Calibri" pitchFamily="34" charset="-122"/>
                <a:cs typeface="Calibri" pitchFamily="34" charset="-120"/>
              </a:rPr>
              <a:t>Of</a:t>
            </a:r>
            <a:endParaRPr lang="en-US" sz="1400" dirty="0"/>
          </a:p>
        </p:txBody>
      </p:sp>
      <p:sp>
        <p:nvSpPr>
          <p:cNvPr id="10" name="Text 8"/>
          <p:cNvSpPr/>
          <p:nvPr/>
        </p:nvSpPr>
        <p:spPr>
          <a:xfrm>
            <a:off x="2286000" y="2880360"/>
            <a:ext cx="4572000" cy="320040"/>
          </a:xfrm>
          <a:prstGeom prst="rect">
            <a:avLst/>
          </a:prstGeom>
          <a:noFill/>
          <a:ln/>
        </p:spPr>
        <p:txBody>
          <a:bodyPr wrap="square" rtlCol="0" anchor="ctr"/>
          <a:lstStyle/>
          <a:p>
            <a:pPr marL="0" indent="0" algn="ctr">
              <a:buNone/>
            </a:pPr>
            <a:r>
              <a:rPr lang="en-US" sz="1300" dirty="0">
                <a:solidFill>
                  <a:srgbClr val="3B3000"/>
                </a:solidFill>
                <a:latin typeface="Calibri" pitchFamily="34" charset="0"/>
                <a:ea typeface="Calibri" pitchFamily="34" charset="-122"/>
                <a:cs typeface="Calibri" pitchFamily="34" charset="-120"/>
              </a:rPr>
              <a:t>Supervisor Name: </a:t>
            </a:r>
            <a:r>
              <a:rPr lang="en-US" sz="1300" dirty="0" err="1">
                <a:solidFill>
                  <a:srgbClr val="3B3000"/>
                </a:solidFill>
                <a:latin typeface="Calibri" pitchFamily="34" charset="0"/>
                <a:ea typeface="Calibri" pitchFamily="34" charset="-122"/>
                <a:cs typeface="Calibri" pitchFamily="34" charset="-120"/>
              </a:rPr>
              <a:t>Dr.Ramakanth</a:t>
            </a:r>
            <a:endParaRPr lang="en-US" sz="1300" dirty="0"/>
          </a:p>
        </p:txBody>
      </p:sp>
      <p:sp>
        <p:nvSpPr>
          <p:cNvPr id="11" name="Text 9"/>
          <p:cNvSpPr/>
          <p:nvPr/>
        </p:nvSpPr>
        <p:spPr>
          <a:xfrm>
            <a:off x="2286000" y="3246120"/>
            <a:ext cx="4572000" cy="548640"/>
          </a:xfrm>
          <a:prstGeom prst="rect">
            <a:avLst/>
          </a:prstGeom>
          <a:noFill/>
          <a:ln/>
        </p:spPr>
        <p:txBody>
          <a:bodyPr wrap="square" rtlCol="0" anchor="ctr"/>
          <a:lstStyle/>
          <a:p>
            <a:pPr marL="0" indent="0" algn="ctr">
              <a:buNone/>
            </a:pPr>
            <a:r>
              <a:rPr lang="en-US" sz="1300" b="1" dirty="0">
                <a:solidFill>
                  <a:srgbClr val="5C4A00"/>
                </a:solidFill>
                <a:latin typeface="Calibri" pitchFamily="34" charset="0"/>
                <a:ea typeface="Calibri" pitchFamily="34" charset="-122"/>
                <a:cs typeface="Calibri" pitchFamily="34" charset="-120"/>
              </a:rPr>
              <a:t>Assistant Professor</a:t>
            </a:r>
            <a:endParaRPr lang="en-US" sz="1300" dirty="0"/>
          </a:p>
          <a:p>
            <a:pPr marL="0" indent="0" algn="ctr">
              <a:buNone/>
            </a:pPr>
            <a:r>
              <a:rPr lang="en-US" sz="1300" b="1" dirty="0">
                <a:solidFill>
                  <a:srgbClr val="5C4A00"/>
                </a:solidFill>
                <a:latin typeface="Calibri" pitchFamily="34" charset="0"/>
                <a:ea typeface="Calibri" pitchFamily="34" charset="-122"/>
                <a:cs typeface="Calibri" pitchFamily="34" charset="-120"/>
              </a:rPr>
              <a:t>Department of CSE</a:t>
            </a:r>
            <a:endParaRPr lang="en-US" sz="1300" dirty="0"/>
          </a:p>
        </p:txBody>
      </p:sp>
      <p:sp>
        <p:nvSpPr>
          <p:cNvPr id="12" name="Shape 10"/>
          <p:cNvSpPr/>
          <p:nvPr/>
        </p:nvSpPr>
        <p:spPr>
          <a:xfrm>
            <a:off x="3200400" y="3886200"/>
            <a:ext cx="2743200" cy="822960"/>
          </a:xfrm>
          <a:prstGeom prst="rect">
            <a:avLst/>
          </a:prstGeom>
          <a:solidFill>
            <a:srgbClr val="F0EDE6"/>
          </a:solidFill>
          <a:ln w="12700">
            <a:solidFill>
              <a:srgbClr val="F0EDE6"/>
            </a:solidFill>
            <a:prstDash val="solid"/>
          </a:ln>
        </p:spPr>
      </p:sp>
      <p:sp>
        <p:nvSpPr>
          <p:cNvPr id="14" name="Text 12"/>
          <p:cNvSpPr/>
          <p:nvPr/>
        </p:nvSpPr>
        <p:spPr>
          <a:xfrm>
            <a:off x="3246120" y="3931920"/>
            <a:ext cx="594360" cy="594360"/>
          </a:xfrm>
          <a:prstGeom prst="rect">
            <a:avLst/>
          </a:prstGeom>
          <a:noFill/>
          <a:ln/>
        </p:spPr>
        <p:txBody>
          <a:bodyPr wrap="square" rtlCol="0" anchor="ctr"/>
          <a:lstStyle/>
          <a:p>
            <a:pPr marL="0" indent="0" algn="ctr">
              <a:buNone/>
            </a:pPr>
            <a:endParaRPr lang="en-US" sz="900" dirty="0"/>
          </a:p>
        </p:txBody>
      </p:sp>
      <p:sp>
        <p:nvSpPr>
          <p:cNvPr id="16" name="Text 14"/>
          <p:cNvSpPr/>
          <p:nvPr/>
        </p:nvSpPr>
        <p:spPr>
          <a:xfrm>
            <a:off x="3246120" y="4498848"/>
            <a:ext cx="2743200" cy="182880"/>
          </a:xfrm>
          <a:prstGeom prst="rect">
            <a:avLst/>
          </a:prstGeom>
          <a:noFill/>
          <a:ln/>
        </p:spPr>
        <p:txBody>
          <a:bodyPr wrap="square" rtlCol="0" anchor="ctr"/>
          <a:lstStyle/>
          <a:p>
            <a:pPr marL="0" indent="0" algn="ctr">
              <a:buNone/>
            </a:pPr>
            <a:r>
              <a:rPr lang="en-US" sz="700" dirty="0">
                <a:solidFill>
                  <a:srgbClr val="555555"/>
                </a:solidFill>
              </a:rPr>
              <a:t>(DEEMED TO BE UNIVERSITY)</a:t>
            </a:r>
            <a:endParaRPr lang="en-US" sz="700" dirty="0"/>
          </a:p>
        </p:txBody>
      </p:sp>
      <p:pic>
        <p:nvPicPr>
          <p:cNvPr id="28674" name="Picture 2" descr="Registration - Best Private University in Telangana &amp; Andhra Pradesh | KLH  Hyderabad"/>
          <p:cNvPicPr>
            <a:picLocks noChangeAspect="1" noChangeArrowheads="1"/>
          </p:cNvPicPr>
          <p:nvPr/>
        </p:nvPicPr>
        <p:blipFill>
          <a:blip r:embed="rId3"/>
          <a:srcRect/>
          <a:stretch>
            <a:fillRect/>
          </a:stretch>
        </p:blipFill>
        <p:spPr bwMode="auto">
          <a:xfrm>
            <a:off x="3492347" y="3794760"/>
            <a:ext cx="2496973" cy="1070131"/>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DE6"/>
        </a:solidFill>
        <a:effectLst/>
      </p:bgPr>
    </p:bg>
    <p:spTree>
      <p:nvGrpSpPr>
        <p:cNvPr id="1" name=""/>
        <p:cNvGrpSpPr/>
        <p:nvPr/>
      </p:nvGrpSpPr>
      <p:grpSpPr>
        <a:xfrm>
          <a:off x="0" y="0"/>
          <a:ext cx="0" cy="0"/>
          <a:chOff x="0" y="0"/>
          <a:chExt cx="0" cy="0"/>
        </a:xfrm>
      </p:grpSpPr>
      <p:sp>
        <p:nvSpPr>
          <p:cNvPr id="2" name="Shape 0"/>
          <p:cNvSpPr/>
          <p:nvPr/>
        </p:nvSpPr>
        <p:spPr>
          <a:xfrm>
            <a:off x="8046720" y="-457200"/>
            <a:ext cx="1463040" cy="1463040"/>
          </a:xfrm>
          <a:prstGeom prst="ellipse">
            <a:avLst/>
          </a:prstGeom>
          <a:solidFill>
            <a:srgbClr val="C4A882">
              <a:alpha val="80000"/>
            </a:srgbClr>
          </a:solidFill>
          <a:ln w="12700">
            <a:solidFill>
              <a:srgbClr val="C4A882">
                <a:alpha val="80000"/>
              </a:srgbClr>
            </a:solidFill>
            <a:prstDash val="solid"/>
          </a:ln>
        </p:spPr>
      </p:sp>
      <p:sp>
        <p:nvSpPr>
          <p:cNvPr id="3" name="Shape 1"/>
          <p:cNvSpPr/>
          <p:nvPr/>
        </p:nvSpPr>
        <p:spPr>
          <a:xfrm>
            <a:off x="-457200" y="3840480"/>
            <a:ext cx="1828800" cy="1645920"/>
          </a:xfrm>
          <a:prstGeom prst="ellipse">
            <a:avLst/>
          </a:prstGeom>
          <a:solidFill>
            <a:srgbClr val="D9C9B0">
              <a:alpha val="70000"/>
            </a:srgbClr>
          </a:solidFill>
          <a:ln w="12700">
            <a:solidFill>
              <a:srgbClr val="D9C9B0">
                <a:alpha val="70000"/>
              </a:srgbClr>
            </a:solidFill>
            <a:prstDash val="solid"/>
          </a:ln>
        </p:spPr>
      </p:sp>
      <p:sp>
        <p:nvSpPr>
          <p:cNvPr id="4" name="Shape 2"/>
          <p:cNvSpPr/>
          <p:nvPr/>
        </p:nvSpPr>
        <p:spPr>
          <a:xfrm>
            <a:off x="7772400" y="4114800"/>
            <a:ext cx="1645920" cy="1371600"/>
          </a:xfrm>
          <a:prstGeom prst="ellipse">
            <a:avLst/>
          </a:prstGeom>
          <a:solidFill>
            <a:srgbClr val="C4A882">
              <a:alpha val="75000"/>
            </a:srgbClr>
          </a:solidFill>
          <a:ln w="12700">
            <a:solidFill>
              <a:srgbClr val="C4A882">
                <a:alpha val="75000"/>
              </a:srgbClr>
            </a:solidFill>
            <a:prstDash val="solid"/>
          </a:ln>
        </p:spPr>
      </p:sp>
      <p:sp>
        <p:nvSpPr>
          <p:cNvPr id="5" name="Shape 3"/>
          <p:cNvSpPr/>
          <p:nvPr/>
        </p:nvSpPr>
        <p:spPr>
          <a:xfrm>
            <a:off x="-731520" y="914400"/>
            <a:ext cx="2011680" cy="2286000"/>
          </a:xfrm>
          <a:prstGeom prst="ellipse">
            <a:avLst/>
          </a:prstGeom>
          <a:solidFill>
            <a:srgbClr val="D9C9B0">
              <a:alpha val="60000"/>
            </a:srgbClr>
          </a:solidFill>
          <a:ln w="12700">
            <a:solidFill>
              <a:srgbClr val="D9C9B0">
                <a:alpha val="60000"/>
              </a:srgbClr>
            </a:solidFill>
            <a:prstDash val="solid"/>
          </a:ln>
        </p:spPr>
      </p:sp>
      <p:sp>
        <p:nvSpPr>
          <p:cNvPr id="6" name="Shape 4"/>
          <p:cNvSpPr/>
          <p:nvPr/>
        </p:nvSpPr>
        <p:spPr>
          <a:xfrm>
            <a:off x="8229600" y="2560320"/>
            <a:ext cx="1371600" cy="1828800"/>
          </a:xfrm>
          <a:prstGeom prst="ellipse">
            <a:avLst/>
          </a:prstGeom>
          <a:solidFill>
            <a:srgbClr val="D9C9B0">
              <a:alpha val="50000"/>
            </a:srgbClr>
          </a:solidFill>
          <a:ln w="12700">
            <a:solidFill>
              <a:srgbClr val="D9C9B0">
                <a:alpha val="50000"/>
              </a:srgbClr>
            </a:solidFill>
            <a:prstDash val="solid"/>
          </a:ln>
        </p:spPr>
      </p:sp>
      <p:sp>
        <p:nvSpPr>
          <p:cNvPr id="8" name="Text 6"/>
          <p:cNvSpPr/>
          <p:nvPr/>
        </p:nvSpPr>
        <p:spPr>
          <a:xfrm>
            <a:off x="137160" y="91440"/>
            <a:ext cx="502920" cy="502920"/>
          </a:xfrm>
          <a:prstGeom prst="rect">
            <a:avLst/>
          </a:prstGeom>
          <a:noFill/>
          <a:ln/>
        </p:spPr>
        <p:txBody>
          <a:bodyPr wrap="square" rtlCol="0" anchor="ctr"/>
          <a:lstStyle/>
          <a:p>
            <a:pPr marL="0" indent="0" algn="ctr">
              <a:buNone/>
            </a:pPr>
            <a:r>
              <a:rPr lang="en-US" sz="800" b="1" dirty="0">
                <a:solidFill>
                  <a:srgbClr val="FFFFFF"/>
                </a:solidFill>
              </a:rPr>
              <a:t>KLH</a:t>
            </a:r>
            <a:endParaRPr lang="en-US" sz="800" dirty="0"/>
          </a:p>
        </p:txBody>
      </p:sp>
      <p:sp>
        <p:nvSpPr>
          <p:cNvPr id="9" name="Text 7"/>
          <p:cNvSpPr/>
          <p:nvPr/>
        </p:nvSpPr>
        <p:spPr>
          <a:xfrm>
            <a:off x="685800" y="73152"/>
            <a:ext cx="1097280" cy="274320"/>
          </a:xfrm>
          <a:prstGeom prst="rect">
            <a:avLst/>
          </a:prstGeom>
          <a:noFill/>
          <a:ln/>
        </p:spPr>
        <p:txBody>
          <a:bodyPr wrap="square" rtlCol="0" anchor="ctr"/>
          <a:lstStyle/>
          <a:p>
            <a:pPr marL="0" indent="0" algn="l">
              <a:buNone/>
            </a:pPr>
            <a:endParaRPr lang="en-US" sz="1300" dirty="0"/>
          </a:p>
        </p:txBody>
      </p:sp>
      <p:sp>
        <p:nvSpPr>
          <p:cNvPr id="11" name="Text 9"/>
          <p:cNvSpPr/>
          <p:nvPr/>
        </p:nvSpPr>
        <p:spPr>
          <a:xfrm>
            <a:off x="4114800" y="137160"/>
            <a:ext cx="4572000" cy="640080"/>
          </a:xfrm>
          <a:prstGeom prst="rect">
            <a:avLst/>
          </a:prstGeom>
          <a:noFill/>
          <a:ln/>
        </p:spPr>
        <p:txBody>
          <a:bodyPr wrap="square" rtlCol="0" anchor="ctr"/>
          <a:lstStyle/>
          <a:p>
            <a:pPr marL="0" indent="0" algn="l">
              <a:buNone/>
            </a:pPr>
            <a:r>
              <a:rPr lang="en-US" sz="4400" b="1" dirty="0">
                <a:solidFill>
                  <a:srgbClr val="5C4A00"/>
                </a:solidFill>
                <a:latin typeface="Arial Black" pitchFamily="34" charset="0"/>
                <a:ea typeface="Arial Black" pitchFamily="34" charset="-122"/>
                <a:cs typeface="Arial Black" pitchFamily="34" charset="-120"/>
              </a:rPr>
              <a:t>OUTLINE</a:t>
            </a:r>
            <a:endParaRPr lang="en-US" sz="4400" dirty="0"/>
          </a:p>
        </p:txBody>
      </p:sp>
      <p:sp>
        <p:nvSpPr>
          <p:cNvPr id="12" name="Text 10"/>
          <p:cNvSpPr/>
          <p:nvPr/>
        </p:nvSpPr>
        <p:spPr>
          <a:xfrm>
            <a:off x="3657600" y="868680"/>
            <a:ext cx="5029200" cy="4023360"/>
          </a:xfrm>
          <a:prstGeom prst="rect">
            <a:avLst/>
          </a:prstGeom>
          <a:noFill/>
          <a:ln/>
        </p:spPr>
        <p:txBody>
          <a:bodyPr wrap="square" rtlCol="0" anchor="ctr"/>
          <a:lstStyle/>
          <a:p>
            <a:pPr marL="0" indent="0">
              <a:lnSpc>
                <a:spcPct val="125000"/>
              </a:lnSpc>
              <a:buNone/>
            </a:pPr>
            <a:r>
              <a:rPr lang="en-US" sz="1300" dirty="0">
                <a:solidFill>
                  <a:srgbClr val="3B3000"/>
                </a:solidFill>
                <a:latin typeface="Calibri" pitchFamily="34" charset="0"/>
                <a:ea typeface="Calibri" pitchFamily="34" charset="-122"/>
                <a:cs typeface="Calibri" pitchFamily="34" charset="-120"/>
              </a:rPr>
              <a:t>1. Abstract</a:t>
            </a:r>
            <a:endParaRPr lang="en-US" sz="1300" dirty="0"/>
          </a:p>
          <a:p>
            <a:pPr marL="0" indent="0">
              <a:lnSpc>
                <a:spcPct val="125000"/>
              </a:lnSpc>
              <a:buNone/>
            </a:pPr>
            <a:r>
              <a:rPr lang="en-US" sz="1300" dirty="0">
                <a:solidFill>
                  <a:srgbClr val="3B3000"/>
                </a:solidFill>
                <a:latin typeface="Calibri" pitchFamily="34" charset="0"/>
                <a:ea typeface="Calibri" pitchFamily="34" charset="-122"/>
                <a:cs typeface="Calibri" pitchFamily="34" charset="-120"/>
              </a:rPr>
              <a:t>2. Existing System</a:t>
            </a:r>
            <a:endParaRPr lang="en-US" sz="1300" dirty="0"/>
          </a:p>
          <a:p>
            <a:pPr marL="0" indent="0">
              <a:lnSpc>
                <a:spcPct val="125000"/>
              </a:lnSpc>
              <a:buNone/>
            </a:pPr>
            <a:r>
              <a:rPr lang="en-US" sz="1300" dirty="0">
                <a:solidFill>
                  <a:srgbClr val="3B3000"/>
                </a:solidFill>
                <a:latin typeface="Calibri" pitchFamily="34" charset="0"/>
                <a:ea typeface="Calibri" pitchFamily="34" charset="-122"/>
                <a:cs typeface="Calibri" pitchFamily="34" charset="-120"/>
              </a:rPr>
              <a:t>3. Proposed System</a:t>
            </a:r>
            <a:endParaRPr lang="en-US" sz="1300" dirty="0"/>
          </a:p>
          <a:p>
            <a:pPr marL="0" indent="0">
              <a:lnSpc>
                <a:spcPct val="125000"/>
              </a:lnSpc>
              <a:buNone/>
            </a:pPr>
            <a:r>
              <a:rPr lang="en-US" sz="1300" dirty="0">
                <a:solidFill>
                  <a:srgbClr val="3B3000"/>
                </a:solidFill>
                <a:latin typeface="Calibri" pitchFamily="34" charset="0"/>
                <a:ea typeface="Calibri" pitchFamily="34" charset="-122"/>
                <a:cs typeface="Calibri" pitchFamily="34" charset="-120"/>
              </a:rPr>
              <a:t>4. System Architecture</a:t>
            </a:r>
            <a:endParaRPr lang="en-US" sz="1300" dirty="0"/>
          </a:p>
          <a:p>
            <a:pPr marL="0" indent="0">
              <a:lnSpc>
                <a:spcPct val="125000"/>
              </a:lnSpc>
              <a:buNone/>
            </a:pPr>
            <a:r>
              <a:rPr lang="en-US" sz="1300" dirty="0">
                <a:solidFill>
                  <a:srgbClr val="3B3000"/>
                </a:solidFill>
                <a:latin typeface="Calibri" pitchFamily="34" charset="0"/>
                <a:ea typeface="Calibri" pitchFamily="34" charset="-122"/>
                <a:cs typeface="Calibri" pitchFamily="34" charset="-120"/>
              </a:rPr>
              <a:t>5. Project Modules</a:t>
            </a:r>
            <a:endParaRPr lang="en-US" sz="1300" dirty="0"/>
          </a:p>
          <a:p>
            <a:pPr marL="0" indent="0">
              <a:lnSpc>
                <a:spcPct val="125000"/>
              </a:lnSpc>
              <a:buNone/>
            </a:pPr>
            <a:r>
              <a:rPr lang="en-US" sz="1300" dirty="0">
                <a:solidFill>
                  <a:srgbClr val="3B3000"/>
                </a:solidFill>
                <a:latin typeface="Calibri" pitchFamily="34" charset="0"/>
                <a:ea typeface="Calibri" pitchFamily="34" charset="-122"/>
                <a:cs typeface="Calibri" pitchFamily="34" charset="-120"/>
              </a:rPr>
              <a:t>6. Objectives</a:t>
            </a:r>
            <a:endParaRPr lang="en-US" sz="1300" dirty="0"/>
          </a:p>
          <a:p>
            <a:pPr marL="0" indent="0">
              <a:lnSpc>
                <a:spcPct val="125000"/>
              </a:lnSpc>
              <a:buNone/>
            </a:pPr>
            <a:r>
              <a:rPr lang="en-US" sz="1300" dirty="0">
                <a:solidFill>
                  <a:srgbClr val="3B3000"/>
                </a:solidFill>
                <a:latin typeface="Calibri" pitchFamily="34" charset="0"/>
                <a:ea typeface="Calibri" pitchFamily="34" charset="-122"/>
                <a:cs typeface="Calibri" pitchFamily="34" charset="-120"/>
              </a:rPr>
              <a:t>7. Co's Attainments - FWD (CO1...CO5)</a:t>
            </a:r>
            <a:endParaRPr lang="en-US" sz="1300" dirty="0"/>
          </a:p>
          <a:p>
            <a:pPr marL="0" indent="0">
              <a:lnSpc>
                <a:spcPct val="125000"/>
              </a:lnSpc>
              <a:buNone/>
            </a:pPr>
            <a:r>
              <a:rPr lang="en-US" sz="1300" dirty="0">
                <a:solidFill>
                  <a:srgbClr val="3B3000"/>
                </a:solidFill>
                <a:latin typeface="Calibri" pitchFamily="34" charset="0"/>
                <a:ea typeface="Calibri" pitchFamily="34" charset="-122"/>
                <a:cs typeface="Calibri" pitchFamily="34" charset="-120"/>
              </a:rPr>
              <a:t>8. Co's Attainments - DSA (CO1...CO5)</a:t>
            </a:r>
            <a:endParaRPr lang="en-US" sz="1300" dirty="0"/>
          </a:p>
          <a:p>
            <a:pPr marL="0" indent="0">
              <a:lnSpc>
                <a:spcPct val="125000"/>
              </a:lnSpc>
              <a:buNone/>
            </a:pPr>
            <a:r>
              <a:rPr lang="en-US" sz="1300" dirty="0">
                <a:solidFill>
                  <a:srgbClr val="3B3000"/>
                </a:solidFill>
                <a:latin typeface="Calibri" pitchFamily="34" charset="0"/>
                <a:ea typeface="Calibri" pitchFamily="34" charset="-122"/>
                <a:cs typeface="Calibri" pitchFamily="34" charset="-120"/>
              </a:rPr>
              <a:t>9. Screen Shots for FWD &amp; DSA</a:t>
            </a:r>
            <a:endParaRPr lang="en-US" sz="1300" dirty="0"/>
          </a:p>
          <a:p>
            <a:pPr marL="0" indent="0">
              <a:lnSpc>
                <a:spcPct val="125000"/>
              </a:lnSpc>
              <a:buNone/>
            </a:pPr>
            <a:r>
              <a:rPr lang="en-US" sz="1300" dirty="0">
                <a:solidFill>
                  <a:srgbClr val="3B3000"/>
                </a:solidFill>
                <a:latin typeface="Calibri" pitchFamily="34" charset="0"/>
                <a:ea typeface="Calibri" pitchFamily="34" charset="-122"/>
                <a:cs typeface="Calibri" pitchFamily="34" charset="-120"/>
              </a:rPr>
              <a:t>10. Conclusion</a:t>
            </a:r>
            <a:endParaRPr lang="en-US" sz="1300" dirty="0"/>
          </a:p>
          <a:p>
            <a:pPr marL="0" indent="0">
              <a:lnSpc>
                <a:spcPct val="125000"/>
              </a:lnSpc>
              <a:buNone/>
            </a:pPr>
            <a:r>
              <a:rPr lang="en-US" sz="1300" dirty="0">
                <a:solidFill>
                  <a:srgbClr val="3B3000"/>
                </a:solidFill>
                <a:latin typeface="Calibri" pitchFamily="34" charset="0"/>
                <a:ea typeface="Calibri" pitchFamily="34" charset="-122"/>
                <a:cs typeface="Calibri" pitchFamily="34" charset="-120"/>
              </a:rPr>
              <a:t>11. Geo-Tagged Photos</a:t>
            </a:r>
            <a:endParaRPr lang="en-US" sz="1300" dirty="0"/>
          </a:p>
        </p:txBody>
      </p:sp>
      <p:sp>
        <p:nvSpPr>
          <p:cNvPr id="14" name="Text 12"/>
          <p:cNvSpPr/>
          <p:nvPr/>
        </p:nvSpPr>
        <p:spPr>
          <a:xfrm>
            <a:off x="731520" y="2560320"/>
            <a:ext cx="1828800" cy="1828800"/>
          </a:xfrm>
          <a:prstGeom prst="rect">
            <a:avLst/>
          </a:prstGeom>
          <a:noFill/>
          <a:ln/>
        </p:spPr>
        <p:txBody>
          <a:bodyPr wrap="square" rtlCol="0" anchor="ctr"/>
          <a:lstStyle/>
          <a:p>
            <a:pPr marL="0" indent="0" algn="ctr">
              <a:buNone/>
            </a:pPr>
            <a:r>
              <a:rPr lang="en-US" sz="6000" dirty="0">
                <a:solidFill>
                  <a:srgbClr val="000000"/>
                </a:solidFill>
              </a:rPr>
              <a:t>📋</a:t>
            </a:r>
            <a:endParaRPr lang="en-US" sz="6000" dirty="0"/>
          </a:p>
        </p:txBody>
      </p:sp>
      <p:pic>
        <p:nvPicPr>
          <p:cNvPr id="15" name="Picture 2" descr="Registration - Best Private University in Telangana &amp; Andhra Pradesh | KLH  Hyderabad"/>
          <p:cNvPicPr>
            <a:picLocks noChangeAspect="1" noChangeArrowheads="1"/>
          </p:cNvPicPr>
          <p:nvPr/>
        </p:nvPicPr>
        <p:blipFill>
          <a:blip r:embed="rId3"/>
          <a:srcRect/>
          <a:stretch>
            <a:fillRect/>
          </a:stretch>
        </p:blipFill>
        <p:spPr bwMode="auto">
          <a:xfrm>
            <a:off x="31673" y="73153"/>
            <a:ext cx="2167517" cy="928936"/>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DE6"/>
        </a:solidFill>
        <a:effectLst/>
      </p:bgPr>
    </p:bg>
    <p:spTree>
      <p:nvGrpSpPr>
        <p:cNvPr id="1" name=""/>
        <p:cNvGrpSpPr/>
        <p:nvPr/>
      </p:nvGrpSpPr>
      <p:grpSpPr>
        <a:xfrm>
          <a:off x="0" y="0"/>
          <a:ext cx="0" cy="0"/>
          <a:chOff x="0" y="0"/>
          <a:chExt cx="0" cy="0"/>
        </a:xfrm>
      </p:grpSpPr>
      <p:sp>
        <p:nvSpPr>
          <p:cNvPr id="2" name="Shape 0"/>
          <p:cNvSpPr/>
          <p:nvPr/>
        </p:nvSpPr>
        <p:spPr>
          <a:xfrm>
            <a:off x="8046720" y="-457200"/>
            <a:ext cx="1463040" cy="1463040"/>
          </a:xfrm>
          <a:prstGeom prst="ellipse">
            <a:avLst/>
          </a:prstGeom>
          <a:solidFill>
            <a:srgbClr val="C4A882">
              <a:alpha val="80000"/>
            </a:srgbClr>
          </a:solidFill>
          <a:ln w="12700">
            <a:solidFill>
              <a:srgbClr val="C4A882">
                <a:alpha val="80000"/>
              </a:srgbClr>
            </a:solidFill>
            <a:prstDash val="solid"/>
          </a:ln>
        </p:spPr>
      </p:sp>
      <p:sp>
        <p:nvSpPr>
          <p:cNvPr id="3" name="Shape 1"/>
          <p:cNvSpPr/>
          <p:nvPr/>
        </p:nvSpPr>
        <p:spPr>
          <a:xfrm>
            <a:off x="-457200" y="3840480"/>
            <a:ext cx="1828800" cy="1645920"/>
          </a:xfrm>
          <a:prstGeom prst="ellipse">
            <a:avLst/>
          </a:prstGeom>
          <a:solidFill>
            <a:srgbClr val="D9C9B0">
              <a:alpha val="70000"/>
            </a:srgbClr>
          </a:solidFill>
          <a:ln w="12700">
            <a:solidFill>
              <a:srgbClr val="D9C9B0">
                <a:alpha val="70000"/>
              </a:srgbClr>
            </a:solidFill>
            <a:prstDash val="solid"/>
          </a:ln>
        </p:spPr>
      </p:sp>
      <p:sp>
        <p:nvSpPr>
          <p:cNvPr id="4" name="Shape 2"/>
          <p:cNvSpPr/>
          <p:nvPr/>
        </p:nvSpPr>
        <p:spPr>
          <a:xfrm>
            <a:off x="7772400" y="4114800"/>
            <a:ext cx="1645920" cy="1371600"/>
          </a:xfrm>
          <a:prstGeom prst="ellipse">
            <a:avLst/>
          </a:prstGeom>
          <a:solidFill>
            <a:srgbClr val="C4A882">
              <a:alpha val="75000"/>
            </a:srgbClr>
          </a:solidFill>
          <a:ln w="12700">
            <a:solidFill>
              <a:srgbClr val="C4A882">
                <a:alpha val="75000"/>
              </a:srgbClr>
            </a:solidFill>
            <a:prstDash val="solid"/>
          </a:ln>
        </p:spPr>
      </p:sp>
      <p:sp>
        <p:nvSpPr>
          <p:cNvPr id="5" name="Shape 3"/>
          <p:cNvSpPr/>
          <p:nvPr/>
        </p:nvSpPr>
        <p:spPr>
          <a:xfrm>
            <a:off x="-731520" y="914400"/>
            <a:ext cx="2011680" cy="2286000"/>
          </a:xfrm>
          <a:prstGeom prst="ellipse">
            <a:avLst/>
          </a:prstGeom>
          <a:solidFill>
            <a:srgbClr val="D9C9B0">
              <a:alpha val="60000"/>
            </a:srgbClr>
          </a:solidFill>
          <a:ln w="12700">
            <a:solidFill>
              <a:srgbClr val="D9C9B0">
                <a:alpha val="60000"/>
              </a:srgbClr>
            </a:solidFill>
            <a:prstDash val="solid"/>
          </a:ln>
        </p:spPr>
      </p:sp>
      <p:sp>
        <p:nvSpPr>
          <p:cNvPr id="6" name="Shape 4"/>
          <p:cNvSpPr/>
          <p:nvPr/>
        </p:nvSpPr>
        <p:spPr>
          <a:xfrm>
            <a:off x="8229600" y="2560320"/>
            <a:ext cx="1371600" cy="1828800"/>
          </a:xfrm>
          <a:prstGeom prst="ellipse">
            <a:avLst/>
          </a:prstGeom>
          <a:solidFill>
            <a:srgbClr val="D9C9B0">
              <a:alpha val="50000"/>
            </a:srgbClr>
          </a:solidFill>
          <a:ln w="12700">
            <a:solidFill>
              <a:srgbClr val="D9C9B0">
                <a:alpha val="50000"/>
              </a:srgbClr>
            </a:solidFill>
            <a:prstDash val="solid"/>
          </a:ln>
        </p:spPr>
      </p:sp>
      <p:sp>
        <p:nvSpPr>
          <p:cNvPr id="9" name="Text 7"/>
          <p:cNvSpPr/>
          <p:nvPr/>
        </p:nvSpPr>
        <p:spPr>
          <a:xfrm>
            <a:off x="685800" y="73152"/>
            <a:ext cx="1097280" cy="274320"/>
          </a:xfrm>
          <a:prstGeom prst="rect">
            <a:avLst/>
          </a:prstGeom>
          <a:noFill/>
          <a:ln/>
        </p:spPr>
        <p:txBody>
          <a:bodyPr wrap="square" rtlCol="0" anchor="ctr"/>
          <a:lstStyle/>
          <a:p>
            <a:pPr marL="0" indent="0" algn="l">
              <a:buNone/>
            </a:pPr>
            <a:endParaRPr lang="en-US" sz="1300" dirty="0"/>
          </a:p>
        </p:txBody>
      </p:sp>
      <p:sp>
        <p:nvSpPr>
          <p:cNvPr id="10" name="Text 8"/>
          <p:cNvSpPr/>
          <p:nvPr/>
        </p:nvSpPr>
        <p:spPr>
          <a:xfrm>
            <a:off x="685800" y="310896"/>
            <a:ext cx="2286000" cy="182880"/>
          </a:xfrm>
          <a:prstGeom prst="rect">
            <a:avLst/>
          </a:prstGeom>
          <a:noFill/>
          <a:ln/>
        </p:spPr>
        <p:txBody>
          <a:bodyPr wrap="square" rtlCol="0" anchor="ctr"/>
          <a:lstStyle/>
          <a:p>
            <a:pPr marL="0" indent="0" algn="l">
              <a:buNone/>
            </a:pPr>
            <a:endParaRPr lang="en-US" sz="600" dirty="0"/>
          </a:p>
        </p:txBody>
      </p:sp>
      <p:sp>
        <p:nvSpPr>
          <p:cNvPr id="11" name="Text 9"/>
          <p:cNvSpPr/>
          <p:nvPr/>
        </p:nvSpPr>
        <p:spPr>
          <a:xfrm>
            <a:off x="1645920" y="109728"/>
            <a:ext cx="6400800" cy="640080"/>
          </a:xfrm>
          <a:prstGeom prst="rect">
            <a:avLst/>
          </a:prstGeom>
          <a:noFill/>
          <a:ln/>
        </p:spPr>
        <p:txBody>
          <a:bodyPr wrap="square" rtlCol="0" anchor="ctr"/>
          <a:lstStyle/>
          <a:p>
            <a:pPr marL="0" indent="0" algn="l">
              <a:buNone/>
            </a:pPr>
            <a:r>
              <a:rPr lang="en-US" sz="4400" b="1" dirty="0">
                <a:solidFill>
                  <a:srgbClr val="5C4A00"/>
                </a:solidFill>
                <a:latin typeface="Arial Black" pitchFamily="34" charset="0"/>
                <a:ea typeface="Arial Black" pitchFamily="34" charset="-122"/>
                <a:cs typeface="Arial Black" pitchFamily="34" charset="-120"/>
              </a:rPr>
              <a:t>     ABSTRACT</a:t>
            </a:r>
            <a:endParaRPr lang="en-US" sz="4400" dirty="0"/>
          </a:p>
        </p:txBody>
      </p:sp>
      <p:sp>
        <p:nvSpPr>
          <p:cNvPr id="12" name="Text 10"/>
          <p:cNvSpPr/>
          <p:nvPr/>
        </p:nvSpPr>
        <p:spPr>
          <a:xfrm>
            <a:off x="365760" y="1364273"/>
            <a:ext cx="8412480" cy="3931920"/>
          </a:xfrm>
          <a:prstGeom prst="rect">
            <a:avLst/>
          </a:prstGeom>
          <a:noFill/>
          <a:ln/>
        </p:spPr>
        <p:txBody>
          <a:bodyPr wrap="square" rtlCol="0" anchor="t"/>
          <a:lstStyle/>
          <a:p>
            <a:pPr marL="0" indent="0" algn="l">
              <a:spcAft>
                <a:spcPts val="1000"/>
              </a:spcAft>
              <a:buNone/>
            </a:pPr>
            <a:r>
              <a:rPr lang="en-US" sz="1400" dirty="0">
                <a:solidFill>
                  <a:srgbClr val="3B3000"/>
                </a:solidFill>
                <a:latin typeface="Calibri" pitchFamily="34" charset="0"/>
                <a:ea typeface="Calibri" pitchFamily="34" charset="-122"/>
                <a:cs typeface="Calibri" pitchFamily="34" charset="-120"/>
              </a:rPr>
              <a:t>FFPE (Fuel Fraud Pattern Engine) is a fleet monitoring system designed to detect fuel theft in campus transport buses. The system continuously monitors three fuel parameters — tank fuel level, ECU (Engine Control Unit) fuel consumption, and expected fuel value — and compares them in real time.</a:t>
            </a:r>
            <a:endParaRPr lang="en-US" sz="1400" dirty="0"/>
          </a:p>
          <a:p>
            <a:pPr marL="0" indent="0" algn="l">
              <a:spcAft>
                <a:spcPts val="1000"/>
              </a:spcAft>
              <a:buNone/>
            </a:pPr>
            <a:endParaRPr lang="en-US" sz="1400" dirty="0"/>
          </a:p>
          <a:p>
            <a:pPr marL="0" indent="0" algn="l">
              <a:spcAft>
                <a:spcPts val="1000"/>
              </a:spcAft>
              <a:buNone/>
            </a:pPr>
            <a:r>
              <a:rPr lang="en-US" sz="1400" dirty="0">
                <a:solidFill>
                  <a:srgbClr val="3B3000"/>
                </a:solidFill>
                <a:latin typeface="Calibri" pitchFamily="34" charset="0"/>
                <a:ea typeface="Calibri" pitchFamily="34" charset="-122"/>
                <a:cs typeface="Calibri" pitchFamily="34" charset="-120"/>
              </a:rPr>
              <a:t>When the fuel mismatch exceeds a threshold of 5 liters, the system automatically detects fraud. The live dashboard (HTML/CSS/JavaScript) fetches data from a Python Flask backend every 3 seconds and updates the status visually. Upon fraud detection, an instant Telegram bot alert is sent to the transport manager, containing the Bus ID, fuel loss amount, GPS link, and timestamp. A Java implementation of the core fraud detection algorithm is also included to demonstrate the DSA logic.</a:t>
            </a:r>
            <a:endParaRPr lang="en-US" sz="1400" dirty="0"/>
          </a:p>
        </p:txBody>
      </p:sp>
      <p:pic>
        <p:nvPicPr>
          <p:cNvPr id="17" name="Picture 2" descr="Registration - Best Private University in Telangana &amp; Andhra Pradesh | KLH  Hyderabad"/>
          <p:cNvPicPr>
            <a:picLocks noChangeAspect="1" noChangeArrowheads="1"/>
          </p:cNvPicPr>
          <p:nvPr/>
        </p:nvPicPr>
        <p:blipFill>
          <a:blip r:embed="rId3"/>
          <a:srcRect/>
          <a:stretch>
            <a:fillRect/>
          </a:stretch>
        </p:blipFill>
        <p:spPr bwMode="auto">
          <a:xfrm>
            <a:off x="123113" y="73153"/>
            <a:ext cx="1659967" cy="711414"/>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DE6"/>
        </a:solidFill>
        <a:effectLst/>
      </p:bgPr>
    </p:bg>
    <p:spTree>
      <p:nvGrpSpPr>
        <p:cNvPr id="1" name=""/>
        <p:cNvGrpSpPr/>
        <p:nvPr/>
      </p:nvGrpSpPr>
      <p:grpSpPr>
        <a:xfrm>
          <a:off x="0" y="0"/>
          <a:ext cx="0" cy="0"/>
          <a:chOff x="0" y="0"/>
          <a:chExt cx="0" cy="0"/>
        </a:xfrm>
      </p:grpSpPr>
      <p:sp>
        <p:nvSpPr>
          <p:cNvPr id="2" name="Shape 0"/>
          <p:cNvSpPr/>
          <p:nvPr/>
        </p:nvSpPr>
        <p:spPr>
          <a:xfrm>
            <a:off x="8046720" y="-457200"/>
            <a:ext cx="1463040" cy="1463040"/>
          </a:xfrm>
          <a:prstGeom prst="ellipse">
            <a:avLst/>
          </a:prstGeom>
          <a:solidFill>
            <a:srgbClr val="C4A882">
              <a:alpha val="80000"/>
            </a:srgbClr>
          </a:solidFill>
          <a:ln w="12700">
            <a:solidFill>
              <a:srgbClr val="C4A882">
                <a:alpha val="80000"/>
              </a:srgbClr>
            </a:solidFill>
            <a:prstDash val="solid"/>
          </a:ln>
        </p:spPr>
      </p:sp>
      <p:sp>
        <p:nvSpPr>
          <p:cNvPr id="3" name="Shape 1"/>
          <p:cNvSpPr/>
          <p:nvPr/>
        </p:nvSpPr>
        <p:spPr>
          <a:xfrm>
            <a:off x="-457200" y="3840480"/>
            <a:ext cx="1828800" cy="1645920"/>
          </a:xfrm>
          <a:prstGeom prst="ellipse">
            <a:avLst/>
          </a:prstGeom>
          <a:solidFill>
            <a:srgbClr val="D9C9B0">
              <a:alpha val="70000"/>
            </a:srgbClr>
          </a:solidFill>
          <a:ln w="12700">
            <a:solidFill>
              <a:srgbClr val="D9C9B0">
                <a:alpha val="70000"/>
              </a:srgbClr>
            </a:solidFill>
            <a:prstDash val="solid"/>
          </a:ln>
        </p:spPr>
      </p:sp>
      <p:sp>
        <p:nvSpPr>
          <p:cNvPr id="4" name="Shape 2"/>
          <p:cNvSpPr/>
          <p:nvPr/>
        </p:nvSpPr>
        <p:spPr>
          <a:xfrm>
            <a:off x="7772400" y="4114800"/>
            <a:ext cx="1645920" cy="1371600"/>
          </a:xfrm>
          <a:prstGeom prst="ellipse">
            <a:avLst/>
          </a:prstGeom>
          <a:solidFill>
            <a:srgbClr val="C4A882">
              <a:alpha val="75000"/>
            </a:srgbClr>
          </a:solidFill>
          <a:ln w="12700">
            <a:solidFill>
              <a:srgbClr val="C4A882">
                <a:alpha val="75000"/>
              </a:srgbClr>
            </a:solidFill>
            <a:prstDash val="solid"/>
          </a:ln>
        </p:spPr>
      </p:sp>
      <p:sp>
        <p:nvSpPr>
          <p:cNvPr id="5" name="Shape 3"/>
          <p:cNvSpPr/>
          <p:nvPr/>
        </p:nvSpPr>
        <p:spPr>
          <a:xfrm>
            <a:off x="-777240" y="931164"/>
            <a:ext cx="2011680" cy="2286000"/>
          </a:xfrm>
          <a:prstGeom prst="ellipse">
            <a:avLst/>
          </a:prstGeom>
          <a:solidFill>
            <a:srgbClr val="D9C9B0">
              <a:alpha val="60000"/>
            </a:srgbClr>
          </a:solidFill>
          <a:ln w="12700">
            <a:solidFill>
              <a:srgbClr val="D9C9B0">
                <a:alpha val="60000"/>
              </a:srgbClr>
            </a:solidFill>
            <a:prstDash val="solid"/>
          </a:ln>
        </p:spPr>
      </p:sp>
      <p:sp>
        <p:nvSpPr>
          <p:cNvPr id="6" name="Shape 4"/>
          <p:cNvSpPr/>
          <p:nvPr/>
        </p:nvSpPr>
        <p:spPr>
          <a:xfrm>
            <a:off x="8229600" y="2560320"/>
            <a:ext cx="1371600" cy="1828800"/>
          </a:xfrm>
          <a:prstGeom prst="ellipse">
            <a:avLst/>
          </a:prstGeom>
          <a:solidFill>
            <a:srgbClr val="D9C9B0">
              <a:alpha val="50000"/>
            </a:srgbClr>
          </a:solidFill>
          <a:ln w="12700">
            <a:solidFill>
              <a:srgbClr val="D9C9B0">
                <a:alpha val="50000"/>
              </a:srgbClr>
            </a:solidFill>
            <a:prstDash val="solid"/>
          </a:ln>
        </p:spPr>
      </p:sp>
      <p:sp>
        <p:nvSpPr>
          <p:cNvPr id="7" name="Shape 5"/>
          <p:cNvSpPr/>
          <p:nvPr/>
        </p:nvSpPr>
        <p:spPr>
          <a:xfrm>
            <a:off x="8915400" y="5017008"/>
            <a:ext cx="228600" cy="126492"/>
          </a:xfrm>
          <a:prstGeom prst="ellipse">
            <a:avLst/>
          </a:prstGeom>
          <a:solidFill>
            <a:srgbClr val="8B0000"/>
          </a:solidFill>
          <a:ln w="12700">
            <a:solidFill>
              <a:srgbClr val="8B0000"/>
            </a:solidFill>
            <a:prstDash val="solid"/>
          </a:ln>
        </p:spPr>
      </p:sp>
      <p:sp>
        <p:nvSpPr>
          <p:cNvPr id="8" name="Text 6"/>
          <p:cNvSpPr/>
          <p:nvPr/>
        </p:nvSpPr>
        <p:spPr>
          <a:xfrm>
            <a:off x="137160" y="91440"/>
            <a:ext cx="502920" cy="502920"/>
          </a:xfrm>
          <a:prstGeom prst="rect">
            <a:avLst/>
          </a:prstGeom>
          <a:noFill/>
          <a:ln/>
        </p:spPr>
        <p:txBody>
          <a:bodyPr wrap="square" rtlCol="0" anchor="ctr"/>
          <a:lstStyle/>
          <a:p>
            <a:pPr marL="0" indent="0" algn="ctr">
              <a:buNone/>
            </a:pPr>
            <a:endParaRPr lang="en-US" sz="800" dirty="0"/>
          </a:p>
        </p:txBody>
      </p:sp>
      <p:sp>
        <p:nvSpPr>
          <p:cNvPr id="9" name="Text 7"/>
          <p:cNvSpPr/>
          <p:nvPr/>
        </p:nvSpPr>
        <p:spPr>
          <a:xfrm>
            <a:off x="685800" y="73152"/>
            <a:ext cx="1097280" cy="274320"/>
          </a:xfrm>
          <a:prstGeom prst="rect">
            <a:avLst/>
          </a:prstGeom>
          <a:noFill/>
          <a:ln/>
        </p:spPr>
        <p:txBody>
          <a:bodyPr wrap="square" rtlCol="0" anchor="ctr"/>
          <a:lstStyle/>
          <a:p>
            <a:pPr marL="0" indent="0" algn="l">
              <a:buNone/>
            </a:pPr>
            <a:endParaRPr lang="en-US" sz="1300" dirty="0"/>
          </a:p>
        </p:txBody>
      </p:sp>
      <p:sp>
        <p:nvSpPr>
          <p:cNvPr id="11" name="Text 9"/>
          <p:cNvSpPr/>
          <p:nvPr/>
        </p:nvSpPr>
        <p:spPr>
          <a:xfrm>
            <a:off x="1645920" y="109728"/>
            <a:ext cx="7315200" cy="640080"/>
          </a:xfrm>
          <a:prstGeom prst="rect">
            <a:avLst/>
          </a:prstGeom>
          <a:noFill/>
          <a:ln/>
        </p:spPr>
        <p:txBody>
          <a:bodyPr wrap="square" rtlCol="0" anchor="ctr"/>
          <a:lstStyle/>
          <a:p>
            <a:pPr marL="0" indent="0" algn="l">
              <a:buNone/>
            </a:pPr>
            <a:r>
              <a:rPr lang="en-US" sz="4000" b="1" dirty="0">
                <a:solidFill>
                  <a:srgbClr val="5C4A00"/>
                </a:solidFill>
                <a:latin typeface="Arial Black" pitchFamily="34" charset="0"/>
                <a:ea typeface="Arial Black" pitchFamily="34" charset="-122"/>
                <a:cs typeface="Arial Black" pitchFamily="34" charset="-120"/>
              </a:rPr>
              <a:t>EXISTING SYSTEM</a:t>
            </a:r>
            <a:endParaRPr lang="en-US" sz="4000" dirty="0"/>
          </a:p>
        </p:txBody>
      </p:sp>
      <p:sp>
        <p:nvSpPr>
          <p:cNvPr id="12" name="Text 10"/>
          <p:cNvSpPr/>
          <p:nvPr/>
        </p:nvSpPr>
        <p:spPr>
          <a:xfrm>
            <a:off x="365760" y="1385789"/>
            <a:ext cx="8412480" cy="3931920"/>
          </a:xfrm>
          <a:prstGeom prst="rect">
            <a:avLst/>
          </a:prstGeom>
          <a:noFill/>
          <a:ln/>
        </p:spPr>
        <p:txBody>
          <a:bodyPr wrap="square" rtlCol="0" anchor="t"/>
          <a:lstStyle/>
          <a:p>
            <a:pPr marL="0" indent="0" algn="l">
              <a:spcAft>
                <a:spcPts val="1000"/>
              </a:spcAft>
              <a:buNone/>
            </a:pPr>
            <a:r>
              <a:rPr lang="en-US" sz="1400" dirty="0">
                <a:solidFill>
                  <a:srgbClr val="3B3000"/>
                </a:solidFill>
                <a:latin typeface="Calibri" pitchFamily="34" charset="0"/>
                <a:ea typeface="Calibri" pitchFamily="34" charset="-122"/>
                <a:cs typeface="Calibri" pitchFamily="34" charset="-120"/>
              </a:rPr>
              <a:t>In the existing fleet management approach, fuel monitoring is largely manual. Transport supervisors physically check fuel gauges and compare odometer readings with fuel refill logs at the end of each route. There is no automated mechanism to cross-verify tank sensor readings with ECU data in real time.</a:t>
            </a:r>
            <a:endParaRPr lang="en-US" sz="1400" dirty="0"/>
          </a:p>
          <a:p>
            <a:pPr marL="0" indent="0" algn="l">
              <a:spcAft>
                <a:spcPts val="1000"/>
              </a:spcAft>
              <a:buNone/>
            </a:pPr>
            <a:endParaRPr lang="en-US" sz="1400" dirty="0"/>
          </a:p>
          <a:p>
            <a:pPr marL="0" indent="0" algn="l">
              <a:spcAft>
                <a:spcPts val="1000"/>
              </a:spcAft>
              <a:buNone/>
            </a:pPr>
            <a:r>
              <a:rPr lang="en-US" sz="1400" dirty="0">
                <a:solidFill>
                  <a:srgbClr val="3B3000"/>
                </a:solidFill>
                <a:latin typeface="Calibri" pitchFamily="34" charset="0"/>
                <a:ea typeface="Calibri" pitchFamily="34" charset="-122"/>
                <a:cs typeface="Calibri" pitchFamily="34" charset="-120"/>
              </a:rPr>
              <a:t>Fraudulent activities such as fuel siphoning often go undetected for long periods, leading to significant financial losses. Alerts, if any, are communicated manually through phone calls or messages, causing delays in response. The lack of a structured, real-time monitoring system makes it difficult to identify patterns of repeated fraud or pinpoint specific buses or routes where theft is occurring.</a:t>
            </a:r>
            <a:endParaRPr lang="en-US" sz="1400" dirty="0"/>
          </a:p>
        </p:txBody>
      </p:sp>
      <p:sp>
        <p:nvSpPr>
          <p:cNvPr id="13" name="Text 8"/>
          <p:cNvSpPr/>
          <p:nvPr/>
        </p:nvSpPr>
        <p:spPr>
          <a:xfrm>
            <a:off x="365760" y="393192"/>
            <a:ext cx="2286000" cy="182880"/>
          </a:xfrm>
          <a:prstGeom prst="rect">
            <a:avLst/>
          </a:prstGeom>
          <a:noFill/>
          <a:ln/>
        </p:spPr>
        <p:txBody>
          <a:bodyPr wrap="square" rtlCol="0" anchor="ctr"/>
          <a:lstStyle/>
          <a:p>
            <a:pPr marL="0" indent="0" algn="l">
              <a:buNone/>
            </a:pPr>
            <a:endParaRPr lang="en-US" sz="600" dirty="0"/>
          </a:p>
        </p:txBody>
      </p:sp>
      <p:sp>
        <p:nvSpPr>
          <p:cNvPr id="14" name="Text 8"/>
          <p:cNvSpPr/>
          <p:nvPr/>
        </p:nvSpPr>
        <p:spPr>
          <a:xfrm>
            <a:off x="518160" y="545592"/>
            <a:ext cx="2286000" cy="182880"/>
          </a:xfrm>
          <a:prstGeom prst="rect">
            <a:avLst/>
          </a:prstGeom>
          <a:noFill/>
          <a:ln/>
        </p:spPr>
        <p:txBody>
          <a:bodyPr wrap="square" rtlCol="0" anchor="ctr"/>
          <a:lstStyle/>
          <a:p>
            <a:pPr marL="0" indent="0" algn="l">
              <a:buNone/>
            </a:pPr>
            <a:endParaRPr lang="en-US" sz="600" dirty="0"/>
          </a:p>
        </p:txBody>
      </p:sp>
      <p:sp>
        <p:nvSpPr>
          <p:cNvPr id="15" name="Text 8"/>
          <p:cNvSpPr/>
          <p:nvPr/>
        </p:nvSpPr>
        <p:spPr>
          <a:xfrm>
            <a:off x="670560" y="697992"/>
            <a:ext cx="2286000" cy="182880"/>
          </a:xfrm>
          <a:prstGeom prst="rect">
            <a:avLst/>
          </a:prstGeom>
          <a:noFill/>
          <a:ln/>
        </p:spPr>
        <p:txBody>
          <a:bodyPr wrap="square" rtlCol="0" anchor="ctr"/>
          <a:lstStyle/>
          <a:p>
            <a:pPr marL="0" indent="0" algn="l">
              <a:buNone/>
            </a:pPr>
            <a:r>
              <a:rPr lang="en-US" sz="600" dirty="0">
                <a:solidFill>
                  <a:srgbClr val="555555"/>
                </a:solidFill>
              </a:rPr>
              <a:t>(FUEL FRAUD PATTERN ENGINE)</a:t>
            </a:r>
            <a:endParaRPr lang="en-US" sz="600" dirty="0"/>
          </a:p>
        </p:txBody>
      </p:sp>
      <p:pic>
        <p:nvPicPr>
          <p:cNvPr id="16" name="Picture 2" descr="Registration - Best Private University in Telangana &amp; Andhra Pradesh | KLH  Hyderabad"/>
          <p:cNvPicPr>
            <a:picLocks noChangeAspect="1" noChangeArrowheads="1"/>
          </p:cNvPicPr>
          <p:nvPr/>
        </p:nvPicPr>
        <p:blipFill>
          <a:blip r:embed="rId3"/>
          <a:srcRect/>
          <a:stretch>
            <a:fillRect/>
          </a:stretch>
        </p:blipFill>
        <p:spPr bwMode="auto">
          <a:xfrm>
            <a:off x="123113" y="73153"/>
            <a:ext cx="1529079" cy="655319"/>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EDE6"/>
        </a:solidFill>
        <a:effectLst/>
      </p:bgPr>
    </p:bg>
    <p:spTree>
      <p:nvGrpSpPr>
        <p:cNvPr id="1" name=""/>
        <p:cNvGrpSpPr/>
        <p:nvPr/>
      </p:nvGrpSpPr>
      <p:grpSpPr>
        <a:xfrm>
          <a:off x="0" y="0"/>
          <a:ext cx="0" cy="0"/>
          <a:chOff x="0" y="0"/>
          <a:chExt cx="0" cy="0"/>
        </a:xfrm>
      </p:grpSpPr>
      <p:sp>
        <p:nvSpPr>
          <p:cNvPr id="2" name="Shape 0"/>
          <p:cNvSpPr/>
          <p:nvPr/>
        </p:nvSpPr>
        <p:spPr>
          <a:xfrm>
            <a:off x="8046720" y="-457200"/>
            <a:ext cx="1463040" cy="1463040"/>
          </a:xfrm>
          <a:prstGeom prst="ellipse">
            <a:avLst/>
          </a:prstGeom>
          <a:solidFill>
            <a:srgbClr val="C4A882">
              <a:alpha val="80000"/>
            </a:srgbClr>
          </a:solidFill>
          <a:ln w="12700">
            <a:solidFill>
              <a:srgbClr val="C4A882">
                <a:alpha val="80000"/>
              </a:srgbClr>
            </a:solidFill>
            <a:prstDash val="solid"/>
          </a:ln>
        </p:spPr>
      </p:sp>
      <p:sp>
        <p:nvSpPr>
          <p:cNvPr id="3" name="Shape 1"/>
          <p:cNvSpPr/>
          <p:nvPr/>
        </p:nvSpPr>
        <p:spPr>
          <a:xfrm>
            <a:off x="-457200" y="3840480"/>
            <a:ext cx="1828800" cy="1645920"/>
          </a:xfrm>
          <a:prstGeom prst="ellipse">
            <a:avLst/>
          </a:prstGeom>
          <a:solidFill>
            <a:srgbClr val="D9C9B0">
              <a:alpha val="70000"/>
            </a:srgbClr>
          </a:solidFill>
          <a:ln w="12700">
            <a:solidFill>
              <a:srgbClr val="D9C9B0">
                <a:alpha val="70000"/>
              </a:srgbClr>
            </a:solidFill>
            <a:prstDash val="solid"/>
          </a:ln>
        </p:spPr>
      </p:sp>
      <p:sp>
        <p:nvSpPr>
          <p:cNvPr id="4" name="Shape 2"/>
          <p:cNvSpPr/>
          <p:nvPr/>
        </p:nvSpPr>
        <p:spPr>
          <a:xfrm>
            <a:off x="7772400" y="4114800"/>
            <a:ext cx="1645920" cy="1371600"/>
          </a:xfrm>
          <a:prstGeom prst="ellipse">
            <a:avLst/>
          </a:prstGeom>
          <a:solidFill>
            <a:srgbClr val="C4A882">
              <a:alpha val="75000"/>
            </a:srgbClr>
          </a:solidFill>
          <a:ln w="12700">
            <a:solidFill>
              <a:srgbClr val="C4A882">
                <a:alpha val="75000"/>
              </a:srgbClr>
            </a:solidFill>
            <a:prstDash val="solid"/>
          </a:ln>
        </p:spPr>
      </p:sp>
      <p:sp>
        <p:nvSpPr>
          <p:cNvPr id="5" name="Shape 3"/>
          <p:cNvSpPr/>
          <p:nvPr/>
        </p:nvSpPr>
        <p:spPr>
          <a:xfrm>
            <a:off x="-731520" y="914400"/>
            <a:ext cx="2011680" cy="2286000"/>
          </a:xfrm>
          <a:prstGeom prst="ellipse">
            <a:avLst/>
          </a:prstGeom>
          <a:solidFill>
            <a:srgbClr val="D9C9B0">
              <a:alpha val="60000"/>
            </a:srgbClr>
          </a:solidFill>
          <a:ln w="12700">
            <a:solidFill>
              <a:srgbClr val="D9C9B0">
                <a:alpha val="60000"/>
              </a:srgbClr>
            </a:solidFill>
            <a:prstDash val="solid"/>
          </a:ln>
        </p:spPr>
      </p:sp>
      <p:sp>
        <p:nvSpPr>
          <p:cNvPr id="6" name="Shape 4"/>
          <p:cNvSpPr/>
          <p:nvPr/>
        </p:nvSpPr>
        <p:spPr>
          <a:xfrm>
            <a:off x="8229600" y="2560320"/>
            <a:ext cx="1371600" cy="1828800"/>
          </a:xfrm>
          <a:prstGeom prst="ellipse">
            <a:avLst/>
          </a:prstGeom>
          <a:solidFill>
            <a:srgbClr val="D9C9B0">
              <a:alpha val="50000"/>
            </a:srgbClr>
          </a:solidFill>
          <a:ln w="12700">
            <a:solidFill>
              <a:srgbClr val="D9C9B0">
                <a:alpha val="50000"/>
              </a:srgbClr>
            </a:solidFill>
            <a:prstDash val="solid"/>
          </a:ln>
        </p:spPr>
      </p:sp>
      <p:sp>
        <p:nvSpPr>
          <p:cNvPr id="8" name="Text 6"/>
          <p:cNvSpPr/>
          <p:nvPr/>
        </p:nvSpPr>
        <p:spPr>
          <a:xfrm>
            <a:off x="137160" y="91440"/>
            <a:ext cx="502920" cy="502920"/>
          </a:xfrm>
          <a:prstGeom prst="rect">
            <a:avLst/>
          </a:prstGeom>
          <a:noFill/>
          <a:ln/>
        </p:spPr>
        <p:txBody>
          <a:bodyPr wrap="square" rtlCol="0" anchor="ctr"/>
          <a:lstStyle/>
          <a:p>
            <a:pPr marL="0" indent="0" algn="ctr">
              <a:buNone/>
            </a:pPr>
            <a:r>
              <a:rPr lang="en-US" sz="800" b="1" dirty="0">
                <a:solidFill>
                  <a:srgbClr val="FFFFFF"/>
                </a:solidFill>
              </a:rPr>
              <a:t>KLH</a:t>
            </a:r>
            <a:endParaRPr lang="en-US" sz="800" dirty="0"/>
          </a:p>
        </p:txBody>
      </p:sp>
      <p:sp>
        <p:nvSpPr>
          <p:cNvPr id="9" name="Text 7"/>
          <p:cNvSpPr/>
          <p:nvPr/>
        </p:nvSpPr>
        <p:spPr>
          <a:xfrm>
            <a:off x="685800" y="73152"/>
            <a:ext cx="1097280" cy="274320"/>
          </a:xfrm>
          <a:prstGeom prst="rect">
            <a:avLst/>
          </a:prstGeom>
          <a:noFill/>
          <a:ln/>
        </p:spPr>
        <p:txBody>
          <a:bodyPr wrap="square" rtlCol="0" anchor="ctr"/>
          <a:lstStyle/>
          <a:p>
            <a:pPr marL="0" indent="0" algn="l">
              <a:buNone/>
            </a:pPr>
            <a:endParaRPr lang="en-US" sz="1300" dirty="0"/>
          </a:p>
        </p:txBody>
      </p:sp>
      <p:sp>
        <p:nvSpPr>
          <p:cNvPr id="10" name="Text 8"/>
          <p:cNvSpPr/>
          <p:nvPr/>
        </p:nvSpPr>
        <p:spPr>
          <a:xfrm>
            <a:off x="685800" y="310896"/>
            <a:ext cx="2286000" cy="182880"/>
          </a:xfrm>
          <a:prstGeom prst="rect">
            <a:avLst/>
          </a:prstGeom>
          <a:noFill/>
          <a:ln/>
        </p:spPr>
        <p:txBody>
          <a:bodyPr wrap="square" rtlCol="0" anchor="ctr"/>
          <a:lstStyle/>
          <a:p>
            <a:pPr marL="0" indent="0" algn="l">
              <a:buNone/>
            </a:pPr>
            <a:endParaRPr lang="en-US" sz="600" dirty="0"/>
          </a:p>
        </p:txBody>
      </p:sp>
      <p:sp>
        <p:nvSpPr>
          <p:cNvPr id="11" name="Text 9"/>
          <p:cNvSpPr/>
          <p:nvPr/>
        </p:nvSpPr>
        <p:spPr>
          <a:xfrm>
            <a:off x="1645920" y="109728"/>
            <a:ext cx="7315200" cy="640080"/>
          </a:xfrm>
          <a:prstGeom prst="rect">
            <a:avLst/>
          </a:prstGeom>
          <a:noFill/>
          <a:ln/>
        </p:spPr>
        <p:txBody>
          <a:bodyPr wrap="square" rtlCol="0" anchor="ctr"/>
          <a:lstStyle/>
          <a:p>
            <a:pPr marL="0" indent="0" algn="l">
              <a:buNone/>
            </a:pPr>
            <a:r>
              <a:rPr lang="en-US" sz="3800" b="1" dirty="0">
                <a:solidFill>
                  <a:srgbClr val="5C4A00"/>
                </a:solidFill>
                <a:latin typeface="Arial Black" pitchFamily="34" charset="0"/>
                <a:ea typeface="Arial Black" pitchFamily="34" charset="-122"/>
                <a:cs typeface="Arial Black" pitchFamily="34" charset="-120"/>
              </a:rPr>
              <a:t> PROPOSED SYSTEM</a:t>
            </a:r>
            <a:endParaRPr lang="en-US" sz="3800" dirty="0"/>
          </a:p>
        </p:txBody>
      </p:sp>
      <p:sp>
        <p:nvSpPr>
          <p:cNvPr id="12" name="Text 10"/>
          <p:cNvSpPr/>
          <p:nvPr/>
        </p:nvSpPr>
        <p:spPr>
          <a:xfrm>
            <a:off x="457200" y="1279845"/>
            <a:ext cx="8412480" cy="3931920"/>
          </a:xfrm>
          <a:prstGeom prst="rect">
            <a:avLst/>
          </a:prstGeom>
          <a:noFill/>
          <a:ln/>
        </p:spPr>
        <p:txBody>
          <a:bodyPr wrap="square" rtlCol="0" anchor="t"/>
          <a:lstStyle/>
          <a:p>
            <a:pPr marL="0" indent="0" algn="l">
              <a:spcAft>
                <a:spcPts val="1000"/>
              </a:spcAft>
              <a:buNone/>
            </a:pPr>
            <a:r>
              <a:rPr lang="en-US" sz="1400" dirty="0">
                <a:solidFill>
                  <a:srgbClr val="3B3000"/>
                </a:solidFill>
                <a:latin typeface="Calibri" pitchFamily="34" charset="0"/>
                <a:ea typeface="Calibri" pitchFamily="34" charset="-122"/>
                <a:cs typeface="Calibri" pitchFamily="34" charset="-120"/>
              </a:rPr>
              <a:t>The proposed FFPE system introduces an automated, real-time fuel fraud detection solution for campus bus fleets. Fuel sensor data (tank level and ECU consumption) is fed into a Python Flask backend which compares values against an expected fuel level. If the mismatch exceeds 5 liters, the system flags the event as fraud.</a:t>
            </a:r>
            <a:endParaRPr lang="en-US" sz="1400" dirty="0"/>
          </a:p>
          <a:p>
            <a:pPr marL="0" indent="0" algn="l">
              <a:spcAft>
                <a:spcPts val="1000"/>
              </a:spcAft>
              <a:buNone/>
            </a:pPr>
            <a:endParaRPr lang="en-US" sz="1400" dirty="0"/>
          </a:p>
          <a:p>
            <a:pPr marL="0" indent="0" algn="l">
              <a:spcAft>
                <a:spcPts val="1000"/>
              </a:spcAft>
              <a:buNone/>
            </a:pPr>
            <a:r>
              <a:rPr lang="en-US" sz="1400" dirty="0">
                <a:solidFill>
                  <a:srgbClr val="3B3000"/>
                </a:solidFill>
                <a:latin typeface="Calibri" pitchFamily="34" charset="0"/>
                <a:ea typeface="Calibri" pitchFamily="34" charset="-122"/>
                <a:cs typeface="Calibri" pitchFamily="34" charset="-120"/>
              </a:rPr>
              <a:t>The live web dashboard (HTML/CSS/JS) auto-refreshes every 3 seconds to display current fuel readings and detection status. On fraud detection, a Telegram bot instantly dispatches an alert message to the transport manager with Bus ID, fuel loss, GPS tracking link, and timestamp. Additionally, the core fraud detection logic is implemented in Java to demonstrate the DSA algorithm. Future improvements include direct IoT sensor integration, route-based fuel profiling, and data analytics for fleet-wide insights.</a:t>
            </a:r>
            <a:endParaRPr lang="en-US" sz="1400" dirty="0"/>
          </a:p>
        </p:txBody>
      </p:sp>
      <p:pic>
        <p:nvPicPr>
          <p:cNvPr id="13" name="Picture 2" descr="Registration - Best Private University in Telangana &amp; Andhra Pradesh | KLH  Hyderabad"/>
          <p:cNvPicPr>
            <a:picLocks noChangeAspect="1" noChangeArrowheads="1"/>
          </p:cNvPicPr>
          <p:nvPr/>
        </p:nvPicPr>
        <p:blipFill>
          <a:blip r:embed="rId3"/>
          <a:srcRect/>
          <a:stretch>
            <a:fillRect/>
          </a:stretch>
        </p:blipFill>
        <p:spPr bwMode="auto">
          <a:xfrm>
            <a:off x="137160" y="73152"/>
            <a:ext cx="1659967" cy="711414"/>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DE6"/>
        </a:solidFill>
        <a:effectLst/>
      </p:bgPr>
    </p:bg>
    <p:spTree>
      <p:nvGrpSpPr>
        <p:cNvPr id="1" name=""/>
        <p:cNvGrpSpPr/>
        <p:nvPr/>
      </p:nvGrpSpPr>
      <p:grpSpPr>
        <a:xfrm>
          <a:off x="0" y="0"/>
          <a:ext cx="0" cy="0"/>
          <a:chOff x="0" y="0"/>
          <a:chExt cx="0" cy="0"/>
        </a:xfrm>
      </p:grpSpPr>
      <p:sp>
        <p:nvSpPr>
          <p:cNvPr id="2" name="Shape 0"/>
          <p:cNvSpPr/>
          <p:nvPr/>
        </p:nvSpPr>
        <p:spPr>
          <a:xfrm>
            <a:off x="8046720" y="-457200"/>
            <a:ext cx="1463040" cy="1463040"/>
          </a:xfrm>
          <a:prstGeom prst="ellipse">
            <a:avLst/>
          </a:prstGeom>
          <a:solidFill>
            <a:srgbClr val="C4A882">
              <a:alpha val="80000"/>
            </a:srgbClr>
          </a:solidFill>
          <a:ln w="12700">
            <a:solidFill>
              <a:srgbClr val="C4A882">
                <a:alpha val="80000"/>
              </a:srgbClr>
            </a:solidFill>
            <a:prstDash val="solid"/>
          </a:ln>
        </p:spPr>
      </p:sp>
      <p:sp>
        <p:nvSpPr>
          <p:cNvPr id="3" name="Shape 1"/>
          <p:cNvSpPr/>
          <p:nvPr/>
        </p:nvSpPr>
        <p:spPr>
          <a:xfrm>
            <a:off x="-457200" y="3840480"/>
            <a:ext cx="1828800" cy="1645920"/>
          </a:xfrm>
          <a:prstGeom prst="ellipse">
            <a:avLst/>
          </a:prstGeom>
          <a:solidFill>
            <a:srgbClr val="D9C9B0">
              <a:alpha val="70000"/>
            </a:srgbClr>
          </a:solidFill>
          <a:ln w="12700">
            <a:solidFill>
              <a:srgbClr val="D9C9B0">
                <a:alpha val="70000"/>
              </a:srgbClr>
            </a:solidFill>
            <a:prstDash val="solid"/>
          </a:ln>
        </p:spPr>
      </p:sp>
      <p:sp>
        <p:nvSpPr>
          <p:cNvPr id="4" name="Shape 2"/>
          <p:cNvSpPr/>
          <p:nvPr/>
        </p:nvSpPr>
        <p:spPr>
          <a:xfrm>
            <a:off x="7772400" y="4114800"/>
            <a:ext cx="1645920" cy="1371600"/>
          </a:xfrm>
          <a:prstGeom prst="ellipse">
            <a:avLst/>
          </a:prstGeom>
          <a:solidFill>
            <a:srgbClr val="C4A882">
              <a:alpha val="75000"/>
            </a:srgbClr>
          </a:solidFill>
          <a:ln w="12700">
            <a:solidFill>
              <a:srgbClr val="C4A882">
                <a:alpha val="75000"/>
              </a:srgbClr>
            </a:solidFill>
            <a:prstDash val="solid"/>
          </a:ln>
        </p:spPr>
      </p:sp>
      <p:sp>
        <p:nvSpPr>
          <p:cNvPr id="5" name="Shape 3"/>
          <p:cNvSpPr/>
          <p:nvPr/>
        </p:nvSpPr>
        <p:spPr>
          <a:xfrm>
            <a:off x="-731520" y="914400"/>
            <a:ext cx="2011680" cy="2286000"/>
          </a:xfrm>
          <a:prstGeom prst="ellipse">
            <a:avLst/>
          </a:prstGeom>
          <a:solidFill>
            <a:srgbClr val="D9C9B0">
              <a:alpha val="60000"/>
            </a:srgbClr>
          </a:solidFill>
          <a:ln w="12700">
            <a:solidFill>
              <a:srgbClr val="D9C9B0">
                <a:alpha val="60000"/>
              </a:srgbClr>
            </a:solidFill>
            <a:prstDash val="solid"/>
          </a:ln>
        </p:spPr>
      </p:sp>
      <p:sp>
        <p:nvSpPr>
          <p:cNvPr id="6" name="Shape 4"/>
          <p:cNvSpPr/>
          <p:nvPr/>
        </p:nvSpPr>
        <p:spPr>
          <a:xfrm>
            <a:off x="8229600" y="2560320"/>
            <a:ext cx="1371600" cy="1828800"/>
          </a:xfrm>
          <a:prstGeom prst="ellipse">
            <a:avLst/>
          </a:prstGeom>
          <a:solidFill>
            <a:srgbClr val="D9C9B0">
              <a:alpha val="50000"/>
            </a:srgbClr>
          </a:solidFill>
          <a:ln w="12700">
            <a:solidFill>
              <a:srgbClr val="D9C9B0">
                <a:alpha val="50000"/>
              </a:srgbClr>
            </a:solidFill>
            <a:prstDash val="solid"/>
          </a:ln>
        </p:spPr>
      </p:sp>
      <p:sp>
        <p:nvSpPr>
          <p:cNvPr id="8" name="Text 6"/>
          <p:cNvSpPr/>
          <p:nvPr/>
        </p:nvSpPr>
        <p:spPr>
          <a:xfrm>
            <a:off x="137160" y="91440"/>
            <a:ext cx="502920" cy="502920"/>
          </a:xfrm>
          <a:prstGeom prst="rect">
            <a:avLst/>
          </a:prstGeom>
          <a:noFill/>
          <a:ln/>
        </p:spPr>
        <p:txBody>
          <a:bodyPr wrap="square" rtlCol="0" anchor="ctr"/>
          <a:lstStyle/>
          <a:p>
            <a:pPr marL="0" indent="0" algn="ctr">
              <a:buNone/>
            </a:pPr>
            <a:r>
              <a:rPr lang="en-US" sz="800" b="1" dirty="0">
                <a:solidFill>
                  <a:srgbClr val="FFFFFF"/>
                </a:solidFill>
              </a:rPr>
              <a:t>KLH</a:t>
            </a:r>
            <a:endParaRPr lang="en-US" sz="800" dirty="0"/>
          </a:p>
        </p:txBody>
      </p:sp>
      <p:sp>
        <p:nvSpPr>
          <p:cNvPr id="9" name="Text 7"/>
          <p:cNvSpPr/>
          <p:nvPr/>
        </p:nvSpPr>
        <p:spPr>
          <a:xfrm>
            <a:off x="685800" y="73152"/>
            <a:ext cx="1097280" cy="274320"/>
          </a:xfrm>
          <a:prstGeom prst="rect">
            <a:avLst/>
          </a:prstGeom>
          <a:noFill/>
          <a:ln/>
        </p:spPr>
        <p:txBody>
          <a:bodyPr wrap="square" rtlCol="0" anchor="ctr"/>
          <a:lstStyle/>
          <a:p>
            <a:pPr marL="0" indent="0" algn="l">
              <a:buNone/>
            </a:pPr>
            <a:endParaRPr lang="en-US" sz="1300" dirty="0"/>
          </a:p>
        </p:txBody>
      </p:sp>
      <p:sp>
        <p:nvSpPr>
          <p:cNvPr id="10" name="Text 8"/>
          <p:cNvSpPr/>
          <p:nvPr/>
        </p:nvSpPr>
        <p:spPr>
          <a:xfrm>
            <a:off x="685800" y="310896"/>
            <a:ext cx="2286000" cy="182880"/>
          </a:xfrm>
          <a:prstGeom prst="rect">
            <a:avLst/>
          </a:prstGeom>
          <a:noFill/>
          <a:ln/>
        </p:spPr>
        <p:txBody>
          <a:bodyPr wrap="square" rtlCol="0" anchor="ctr"/>
          <a:lstStyle/>
          <a:p>
            <a:pPr marL="0" indent="0" algn="l">
              <a:buNone/>
            </a:pPr>
            <a:endParaRPr lang="en-US" sz="600" dirty="0"/>
          </a:p>
        </p:txBody>
      </p:sp>
      <p:sp>
        <p:nvSpPr>
          <p:cNvPr id="11" name="Text 9"/>
          <p:cNvSpPr/>
          <p:nvPr/>
        </p:nvSpPr>
        <p:spPr>
          <a:xfrm>
            <a:off x="1645920" y="109728"/>
            <a:ext cx="7315200" cy="594360"/>
          </a:xfrm>
          <a:prstGeom prst="rect">
            <a:avLst/>
          </a:prstGeom>
          <a:noFill/>
          <a:ln/>
        </p:spPr>
        <p:txBody>
          <a:bodyPr wrap="square" rtlCol="0" anchor="ctr"/>
          <a:lstStyle/>
          <a:p>
            <a:pPr marL="0" indent="0" algn="l">
              <a:buNone/>
            </a:pPr>
            <a:r>
              <a:rPr lang="en-US" sz="3400" b="1" dirty="0">
                <a:solidFill>
                  <a:srgbClr val="5C4A00"/>
                </a:solidFill>
                <a:latin typeface="Arial Black" pitchFamily="34" charset="0"/>
                <a:ea typeface="Arial Black" pitchFamily="34" charset="-122"/>
                <a:cs typeface="Arial Black" pitchFamily="34" charset="-120"/>
              </a:rPr>
              <a:t>SYSTEM ARCHITECTURE</a:t>
            </a:r>
            <a:endParaRPr lang="en-US" sz="3400" dirty="0"/>
          </a:p>
        </p:txBody>
      </p:sp>
      <p:sp>
        <p:nvSpPr>
          <p:cNvPr id="12" name="Shape 10"/>
          <p:cNvSpPr/>
          <p:nvPr/>
        </p:nvSpPr>
        <p:spPr>
          <a:xfrm>
            <a:off x="1371600" y="914400"/>
            <a:ext cx="6400800" cy="411480"/>
          </a:xfrm>
          <a:prstGeom prst="rect">
            <a:avLst/>
          </a:prstGeom>
          <a:solidFill>
            <a:srgbClr val="E07B39"/>
          </a:solidFill>
          <a:ln w="12700">
            <a:solidFill>
              <a:srgbClr val="E07B39"/>
            </a:solidFill>
            <a:prstDash val="solid"/>
          </a:ln>
        </p:spPr>
      </p:sp>
      <p:sp>
        <p:nvSpPr>
          <p:cNvPr id="13" name="Text 11"/>
          <p:cNvSpPr/>
          <p:nvPr/>
        </p:nvSpPr>
        <p:spPr>
          <a:xfrm>
            <a:off x="1371600" y="914400"/>
            <a:ext cx="6400800" cy="411480"/>
          </a:xfrm>
          <a:prstGeom prst="rect">
            <a:avLst/>
          </a:prstGeom>
          <a:noFill/>
          <a:ln/>
        </p:spPr>
        <p:txBody>
          <a:bodyPr wrap="square" rtlCol="0" anchor="ctr"/>
          <a:lstStyle/>
          <a:p>
            <a:pPr marL="0" indent="0" algn="ctr">
              <a:buNone/>
            </a:pPr>
            <a:r>
              <a:rPr lang="en-US" sz="1200" b="1" dirty="0">
                <a:solidFill>
                  <a:srgbClr val="FFFFFF"/>
                </a:solidFill>
              </a:rPr>
              <a:t>1. Sensor / Input Layer</a:t>
            </a:r>
            <a:endParaRPr lang="en-US" sz="1200" dirty="0"/>
          </a:p>
        </p:txBody>
      </p:sp>
      <p:sp>
        <p:nvSpPr>
          <p:cNvPr id="14" name="Shape 12"/>
          <p:cNvSpPr/>
          <p:nvPr/>
        </p:nvSpPr>
        <p:spPr>
          <a:xfrm>
            <a:off x="1371600" y="1325880"/>
            <a:ext cx="6400800" cy="502920"/>
          </a:xfrm>
          <a:prstGeom prst="rect">
            <a:avLst/>
          </a:prstGeom>
          <a:solidFill>
            <a:srgbClr val="FFFFFF">
              <a:alpha val="70000"/>
            </a:srgbClr>
          </a:solidFill>
          <a:ln w="12700">
            <a:solidFill>
              <a:srgbClr val="CCCCCC"/>
            </a:solidFill>
            <a:prstDash val="solid"/>
          </a:ln>
        </p:spPr>
      </p:sp>
      <p:sp>
        <p:nvSpPr>
          <p:cNvPr id="15" name="Text 13"/>
          <p:cNvSpPr/>
          <p:nvPr/>
        </p:nvSpPr>
        <p:spPr>
          <a:xfrm>
            <a:off x="1417320" y="1344168"/>
            <a:ext cx="6309360" cy="457200"/>
          </a:xfrm>
          <a:prstGeom prst="rect">
            <a:avLst/>
          </a:prstGeom>
          <a:noFill/>
          <a:ln/>
        </p:spPr>
        <p:txBody>
          <a:bodyPr wrap="square" rtlCol="0" anchor="ctr"/>
          <a:lstStyle/>
          <a:p>
            <a:pPr marL="0" indent="0" algn="ctr">
              <a:buNone/>
            </a:pPr>
            <a:r>
              <a:rPr lang="en-US" sz="1100" dirty="0">
                <a:solidFill>
                  <a:srgbClr val="3B3000"/>
                </a:solidFill>
              </a:rPr>
              <a:t>Tank Fuel Sensor, ECU Fuel Data, Bus Route &amp; GPS Link</a:t>
            </a:r>
            <a:endParaRPr lang="en-US" sz="1100" dirty="0"/>
          </a:p>
        </p:txBody>
      </p:sp>
      <p:sp>
        <p:nvSpPr>
          <p:cNvPr id="16" name="Shape 14"/>
          <p:cNvSpPr/>
          <p:nvPr/>
        </p:nvSpPr>
        <p:spPr>
          <a:xfrm>
            <a:off x="4526280" y="1828800"/>
            <a:ext cx="0" cy="91440"/>
          </a:xfrm>
          <a:prstGeom prst="line">
            <a:avLst/>
          </a:prstGeom>
          <a:noFill/>
          <a:ln w="19050">
            <a:solidFill>
              <a:srgbClr val="888888"/>
            </a:solidFill>
            <a:prstDash val="solid"/>
          </a:ln>
        </p:spPr>
      </p:sp>
      <p:sp>
        <p:nvSpPr>
          <p:cNvPr id="17" name="Shape 15"/>
          <p:cNvSpPr/>
          <p:nvPr/>
        </p:nvSpPr>
        <p:spPr>
          <a:xfrm>
            <a:off x="1371600" y="1920240"/>
            <a:ext cx="6400800" cy="411480"/>
          </a:xfrm>
          <a:prstGeom prst="rect">
            <a:avLst/>
          </a:prstGeom>
          <a:solidFill>
            <a:srgbClr val="5B9942"/>
          </a:solidFill>
          <a:ln w="12700">
            <a:solidFill>
              <a:srgbClr val="5B9942"/>
            </a:solidFill>
            <a:prstDash val="solid"/>
          </a:ln>
        </p:spPr>
      </p:sp>
      <p:sp>
        <p:nvSpPr>
          <p:cNvPr id="18" name="Text 16"/>
          <p:cNvSpPr/>
          <p:nvPr/>
        </p:nvSpPr>
        <p:spPr>
          <a:xfrm>
            <a:off x="1371600" y="1920240"/>
            <a:ext cx="6400800" cy="411480"/>
          </a:xfrm>
          <a:prstGeom prst="rect">
            <a:avLst/>
          </a:prstGeom>
          <a:noFill/>
          <a:ln/>
        </p:spPr>
        <p:txBody>
          <a:bodyPr wrap="square" rtlCol="0" anchor="ctr"/>
          <a:lstStyle/>
          <a:p>
            <a:pPr marL="0" indent="0" algn="ctr">
              <a:buNone/>
            </a:pPr>
            <a:r>
              <a:rPr lang="en-US" sz="1200" b="1" dirty="0">
                <a:solidFill>
                  <a:srgbClr val="FFFFFF"/>
                </a:solidFill>
              </a:rPr>
              <a:t>2. Backend / Processing Layer (Flask)</a:t>
            </a:r>
            <a:endParaRPr lang="en-US" sz="1200" dirty="0"/>
          </a:p>
        </p:txBody>
      </p:sp>
      <p:sp>
        <p:nvSpPr>
          <p:cNvPr id="19" name="Shape 17"/>
          <p:cNvSpPr/>
          <p:nvPr/>
        </p:nvSpPr>
        <p:spPr>
          <a:xfrm>
            <a:off x="1371600" y="2331720"/>
            <a:ext cx="6400800" cy="502920"/>
          </a:xfrm>
          <a:prstGeom prst="rect">
            <a:avLst/>
          </a:prstGeom>
          <a:solidFill>
            <a:srgbClr val="FFFFFF">
              <a:alpha val="70000"/>
            </a:srgbClr>
          </a:solidFill>
          <a:ln w="12700">
            <a:solidFill>
              <a:srgbClr val="CCCCCC"/>
            </a:solidFill>
            <a:prstDash val="solid"/>
          </a:ln>
        </p:spPr>
      </p:sp>
      <p:sp>
        <p:nvSpPr>
          <p:cNvPr id="20" name="Text 18"/>
          <p:cNvSpPr/>
          <p:nvPr/>
        </p:nvSpPr>
        <p:spPr>
          <a:xfrm>
            <a:off x="1417320" y="2350008"/>
            <a:ext cx="6309360" cy="457200"/>
          </a:xfrm>
          <a:prstGeom prst="rect">
            <a:avLst/>
          </a:prstGeom>
          <a:noFill/>
          <a:ln/>
        </p:spPr>
        <p:txBody>
          <a:bodyPr wrap="square" rtlCol="0" anchor="ctr"/>
          <a:lstStyle/>
          <a:p>
            <a:pPr marL="0" indent="0" algn="ctr">
              <a:buNone/>
            </a:pPr>
            <a:r>
              <a:rPr lang="en-US" sz="1100" dirty="0">
                <a:solidFill>
                  <a:srgbClr val="3B3000"/>
                </a:solidFill>
              </a:rPr>
              <a:t>API Key Auth → Compare Tank vs ECU vs Expected → Detect Fraud</a:t>
            </a:r>
            <a:endParaRPr lang="en-US" sz="1100" dirty="0"/>
          </a:p>
        </p:txBody>
      </p:sp>
      <p:sp>
        <p:nvSpPr>
          <p:cNvPr id="21" name="Shape 19"/>
          <p:cNvSpPr/>
          <p:nvPr/>
        </p:nvSpPr>
        <p:spPr>
          <a:xfrm>
            <a:off x="4526280" y="2834640"/>
            <a:ext cx="0" cy="91440"/>
          </a:xfrm>
          <a:prstGeom prst="line">
            <a:avLst/>
          </a:prstGeom>
          <a:noFill/>
          <a:ln w="19050">
            <a:solidFill>
              <a:srgbClr val="888888"/>
            </a:solidFill>
            <a:prstDash val="solid"/>
          </a:ln>
        </p:spPr>
      </p:sp>
      <p:sp>
        <p:nvSpPr>
          <p:cNvPr id="22" name="Shape 20"/>
          <p:cNvSpPr/>
          <p:nvPr/>
        </p:nvSpPr>
        <p:spPr>
          <a:xfrm>
            <a:off x="1371600" y="2926080"/>
            <a:ext cx="6400800" cy="411480"/>
          </a:xfrm>
          <a:prstGeom prst="rect">
            <a:avLst/>
          </a:prstGeom>
          <a:solidFill>
            <a:srgbClr val="F0A500"/>
          </a:solidFill>
          <a:ln w="12700">
            <a:solidFill>
              <a:srgbClr val="F0A500"/>
            </a:solidFill>
            <a:prstDash val="solid"/>
          </a:ln>
        </p:spPr>
      </p:sp>
      <p:sp>
        <p:nvSpPr>
          <p:cNvPr id="23" name="Text 21"/>
          <p:cNvSpPr/>
          <p:nvPr/>
        </p:nvSpPr>
        <p:spPr>
          <a:xfrm>
            <a:off x="1371600" y="2926080"/>
            <a:ext cx="6400800" cy="411480"/>
          </a:xfrm>
          <a:prstGeom prst="rect">
            <a:avLst/>
          </a:prstGeom>
          <a:noFill/>
          <a:ln/>
        </p:spPr>
        <p:txBody>
          <a:bodyPr wrap="square" rtlCol="0" anchor="ctr"/>
          <a:lstStyle/>
          <a:p>
            <a:pPr marL="0" indent="0" algn="ctr">
              <a:buNone/>
            </a:pPr>
            <a:r>
              <a:rPr lang="en-US" sz="1200" b="1" dirty="0">
                <a:solidFill>
                  <a:srgbClr val="FFFFFF"/>
                </a:solidFill>
              </a:rPr>
              <a:t>3. Alert / Output Layer (Telegram)</a:t>
            </a:r>
            <a:endParaRPr lang="en-US" sz="1200" dirty="0"/>
          </a:p>
        </p:txBody>
      </p:sp>
      <p:sp>
        <p:nvSpPr>
          <p:cNvPr id="24" name="Shape 22"/>
          <p:cNvSpPr/>
          <p:nvPr/>
        </p:nvSpPr>
        <p:spPr>
          <a:xfrm>
            <a:off x="1371600" y="3337560"/>
            <a:ext cx="6400800" cy="502920"/>
          </a:xfrm>
          <a:prstGeom prst="rect">
            <a:avLst/>
          </a:prstGeom>
          <a:solidFill>
            <a:srgbClr val="FFFFFF">
              <a:alpha val="70000"/>
            </a:srgbClr>
          </a:solidFill>
          <a:ln w="12700">
            <a:solidFill>
              <a:srgbClr val="CCCCCC"/>
            </a:solidFill>
            <a:prstDash val="solid"/>
          </a:ln>
        </p:spPr>
      </p:sp>
      <p:sp>
        <p:nvSpPr>
          <p:cNvPr id="25" name="Text 23"/>
          <p:cNvSpPr/>
          <p:nvPr/>
        </p:nvSpPr>
        <p:spPr>
          <a:xfrm>
            <a:off x="1417320" y="3355848"/>
            <a:ext cx="6309360" cy="457200"/>
          </a:xfrm>
          <a:prstGeom prst="rect">
            <a:avLst/>
          </a:prstGeom>
          <a:noFill/>
          <a:ln/>
        </p:spPr>
        <p:txBody>
          <a:bodyPr wrap="square" rtlCol="0" anchor="ctr"/>
          <a:lstStyle/>
          <a:p>
            <a:pPr marL="0" indent="0" algn="ctr">
              <a:buNone/>
            </a:pPr>
            <a:r>
              <a:rPr lang="en-US" sz="1100" dirty="0">
                <a:solidFill>
                  <a:srgbClr val="3B3000"/>
                </a:solidFill>
              </a:rPr>
              <a:t>Send Fraud Alert: Bus ID, Fuel Loss, GPS, Timestamp</a:t>
            </a:r>
            <a:endParaRPr lang="en-US" sz="1100" dirty="0"/>
          </a:p>
        </p:txBody>
      </p:sp>
      <p:sp>
        <p:nvSpPr>
          <p:cNvPr id="26" name="Shape 24"/>
          <p:cNvSpPr/>
          <p:nvPr/>
        </p:nvSpPr>
        <p:spPr>
          <a:xfrm>
            <a:off x="4526280" y="3840480"/>
            <a:ext cx="0" cy="91440"/>
          </a:xfrm>
          <a:prstGeom prst="line">
            <a:avLst/>
          </a:prstGeom>
          <a:noFill/>
          <a:ln w="19050">
            <a:solidFill>
              <a:srgbClr val="888888"/>
            </a:solidFill>
            <a:prstDash val="solid"/>
          </a:ln>
        </p:spPr>
      </p:sp>
      <p:sp>
        <p:nvSpPr>
          <p:cNvPr id="27" name="Shape 25"/>
          <p:cNvSpPr/>
          <p:nvPr/>
        </p:nvSpPr>
        <p:spPr>
          <a:xfrm>
            <a:off x="1371600" y="3931920"/>
            <a:ext cx="6400800" cy="411480"/>
          </a:xfrm>
          <a:prstGeom prst="rect">
            <a:avLst/>
          </a:prstGeom>
          <a:solidFill>
            <a:srgbClr val="7B4F9E"/>
          </a:solidFill>
          <a:ln w="12700">
            <a:solidFill>
              <a:srgbClr val="7B4F9E"/>
            </a:solidFill>
            <a:prstDash val="solid"/>
          </a:ln>
        </p:spPr>
      </p:sp>
      <p:sp>
        <p:nvSpPr>
          <p:cNvPr id="28" name="Text 26"/>
          <p:cNvSpPr/>
          <p:nvPr/>
        </p:nvSpPr>
        <p:spPr>
          <a:xfrm>
            <a:off x="1371600" y="3931920"/>
            <a:ext cx="6400800" cy="411480"/>
          </a:xfrm>
          <a:prstGeom prst="rect">
            <a:avLst/>
          </a:prstGeom>
          <a:noFill/>
          <a:ln/>
        </p:spPr>
        <p:txBody>
          <a:bodyPr wrap="square" rtlCol="0" anchor="ctr"/>
          <a:lstStyle/>
          <a:p>
            <a:pPr marL="0" indent="0" algn="ctr">
              <a:buNone/>
            </a:pPr>
            <a:r>
              <a:rPr lang="en-US" sz="1200" b="1" dirty="0">
                <a:solidFill>
                  <a:srgbClr val="FFFFFF"/>
                </a:solidFill>
              </a:rPr>
              <a:t>4. Frontend Layer (Dashboard)</a:t>
            </a:r>
            <a:endParaRPr lang="en-US" sz="1200" dirty="0"/>
          </a:p>
        </p:txBody>
      </p:sp>
      <p:sp>
        <p:nvSpPr>
          <p:cNvPr id="29" name="Shape 27"/>
          <p:cNvSpPr/>
          <p:nvPr/>
        </p:nvSpPr>
        <p:spPr>
          <a:xfrm>
            <a:off x="1371600" y="4343400"/>
            <a:ext cx="6400800" cy="502920"/>
          </a:xfrm>
          <a:prstGeom prst="rect">
            <a:avLst/>
          </a:prstGeom>
          <a:solidFill>
            <a:srgbClr val="FFFFFF">
              <a:alpha val="70000"/>
            </a:srgbClr>
          </a:solidFill>
          <a:ln w="12700">
            <a:solidFill>
              <a:srgbClr val="CCCCCC"/>
            </a:solidFill>
            <a:prstDash val="solid"/>
          </a:ln>
        </p:spPr>
      </p:sp>
      <p:sp>
        <p:nvSpPr>
          <p:cNvPr id="30" name="Text 28"/>
          <p:cNvSpPr/>
          <p:nvPr/>
        </p:nvSpPr>
        <p:spPr>
          <a:xfrm>
            <a:off x="1417320" y="4361688"/>
            <a:ext cx="6309360" cy="457200"/>
          </a:xfrm>
          <a:prstGeom prst="rect">
            <a:avLst/>
          </a:prstGeom>
          <a:noFill/>
          <a:ln/>
        </p:spPr>
        <p:txBody>
          <a:bodyPr wrap="square" rtlCol="0" anchor="ctr"/>
          <a:lstStyle/>
          <a:p>
            <a:pPr marL="0" indent="0" algn="ctr">
              <a:buNone/>
            </a:pPr>
            <a:r>
              <a:rPr lang="en-US" sz="1100" dirty="0">
                <a:solidFill>
                  <a:srgbClr val="3B3000"/>
                </a:solidFill>
              </a:rPr>
              <a:t>Live HTML Dashboard — Auto-refresh every 3 sec via /latest API</a:t>
            </a:r>
            <a:endParaRPr lang="en-US" sz="1100" dirty="0"/>
          </a:p>
        </p:txBody>
      </p:sp>
      <p:pic>
        <p:nvPicPr>
          <p:cNvPr id="32" name="Picture 2" descr="Registration - Best Private University in Telangana &amp; Andhra Pradesh | KLH  Hyderabad"/>
          <p:cNvPicPr>
            <a:picLocks noChangeAspect="1" noChangeArrowheads="1"/>
          </p:cNvPicPr>
          <p:nvPr/>
        </p:nvPicPr>
        <p:blipFill>
          <a:blip r:embed="rId3"/>
          <a:srcRect/>
          <a:stretch>
            <a:fillRect/>
          </a:stretch>
        </p:blipFill>
        <p:spPr bwMode="auto">
          <a:xfrm>
            <a:off x="-20319" y="30481"/>
            <a:ext cx="1529079" cy="655319"/>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EDE6"/>
        </a:solidFill>
        <a:effectLst/>
      </p:bgPr>
    </p:bg>
    <p:spTree>
      <p:nvGrpSpPr>
        <p:cNvPr id="1" name=""/>
        <p:cNvGrpSpPr/>
        <p:nvPr/>
      </p:nvGrpSpPr>
      <p:grpSpPr>
        <a:xfrm>
          <a:off x="0" y="0"/>
          <a:ext cx="0" cy="0"/>
          <a:chOff x="0" y="0"/>
          <a:chExt cx="0" cy="0"/>
        </a:xfrm>
      </p:grpSpPr>
      <p:sp>
        <p:nvSpPr>
          <p:cNvPr id="2" name="Shape 0"/>
          <p:cNvSpPr/>
          <p:nvPr/>
        </p:nvSpPr>
        <p:spPr>
          <a:xfrm>
            <a:off x="8046720" y="-457200"/>
            <a:ext cx="1463040" cy="1463040"/>
          </a:xfrm>
          <a:prstGeom prst="ellipse">
            <a:avLst/>
          </a:prstGeom>
          <a:solidFill>
            <a:srgbClr val="C4A882">
              <a:alpha val="80000"/>
            </a:srgbClr>
          </a:solidFill>
          <a:ln w="12700">
            <a:solidFill>
              <a:srgbClr val="C4A882">
                <a:alpha val="80000"/>
              </a:srgbClr>
            </a:solidFill>
            <a:prstDash val="solid"/>
          </a:ln>
        </p:spPr>
      </p:sp>
      <p:sp>
        <p:nvSpPr>
          <p:cNvPr id="3" name="Shape 1"/>
          <p:cNvSpPr/>
          <p:nvPr/>
        </p:nvSpPr>
        <p:spPr>
          <a:xfrm>
            <a:off x="-457200" y="3840480"/>
            <a:ext cx="1828800" cy="1645920"/>
          </a:xfrm>
          <a:prstGeom prst="ellipse">
            <a:avLst/>
          </a:prstGeom>
          <a:solidFill>
            <a:srgbClr val="D9C9B0">
              <a:alpha val="70000"/>
            </a:srgbClr>
          </a:solidFill>
          <a:ln w="12700">
            <a:solidFill>
              <a:srgbClr val="D9C9B0">
                <a:alpha val="70000"/>
              </a:srgbClr>
            </a:solidFill>
            <a:prstDash val="solid"/>
          </a:ln>
        </p:spPr>
      </p:sp>
      <p:sp>
        <p:nvSpPr>
          <p:cNvPr id="4" name="Shape 2"/>
          <p:cNvSpPr/>
          <p:nvPr/>
        </p:nvSpPr>
        <p:spPr>
          <a:xfrm>
            <a:off x="7772400" y="4114800"/>
            <a:ext cx="1645920" cy="1371600"/>
          </a:xfrm>
          <a:prstGeom prst="ellipse">
            <a:avLst/>
          </a:prstGeom>
          <a:solidFill>
            <a:srgbClr val="C4A882">
              <a:alpha val="75000"/>
            </a:srgbClr>
          </a:solidFill>
          <a:ln w="12700">
            <a:solidFill>
              <a:srgbClr val="C4A882">
                <a:alpha val="75000"/>
              </a:srgbClr>
            </a:solidFill>
            <a:prstDash val="solid"/>
          </a:ln>
        </p:spPr>
      </p:sp>
      <p:sp>
        <p:nvSpPr>
          <p:cNvPr id="5" name="Shape 3"/>
          <p:cNvSpPr/>
          <p:nvPr/>
        </p:nvSpPr>
        <p:spPr>
          <a:xfrm>
            <a:off x="-731520" y="914400"/>
            <a:ext cx="2011680" cy="2286000"/>
          </a:xfrm>
          <a:prstGeom prst="ellipse">
            <a:avLst/>
          </a:prstGeom>
          <a:solidFill>
            <a:srgbClr val="D9C9B0">
              <a:alpha val="60000"/>
            </a:srgbClr>
          </a:solidFill>
          <a:ln w="12700">
            <a:solidFill>
              <a:srgbClr val="D9C9B0">
                <a:alpha val="60000"/>
              </a:srgbClr>
            </a:solidFill>
            <a:prstDash val="solid"/>
          </a:ln>
        </p:spPr>
      </p:sp>
      <p:sp>
        <p:nvSpPr>
          <p:cNvPr id="6" name="Shape 4"/>
          <p:cNvSpPr/>
          <p:nvPr/>
        </p:nvSpPr>
        <p:spPr>
          <a:xfrm>
            <a:off x="8229600" y="2560320"/>
            <a:ext cx="1371600" cy="1828800"/>
          </a:xfrm>
          <a:prstGeom prst="ellipse">
            <a:avLst/>
          </a:prstGeom>
          <a:solidFill>
            <a:srgbClr val="D9C9B0">
              <a:alpha val="50000"/>
            </a:srgbClr>
          </a:solidFill>
          <a:ln w="12700">
            <a:solidFill>
              <a:srgbClr val="D9C9B0">
                <a:alpha val="50000"/>
              </a:srgbClr>
            </a:solidFill>
            <a:prstDash val="solid"/>
          </a:ln>
        </p:spPr>
      </p:sp>
      <p:sp>
        <p:nvSpPr>
          <p:cNvPr id="8" name="Text 6"/>
          <p:cNvSpPr/>
          <p:nvPr/>
        </p:nvSpPr>
        <p:spPr>
          <a:xfrm>
            <a:off x="137160" y="91440"/>
            <a:ext cx="502920" cy="502920"/>
          </a:xfrm>
          <a:prstGeom prst="rect">
            <a:avLst/>
          </a:prstGeom>
          <a:noFill/>
          <a:ln/>
        </p:spPr>
        <p:txBody>
          <a:bodyPr wrap="square" rtlCol="0" anchor="ctr"/>
          <a:lstStyle/>
          <a:p>
            <a:pPr marL="0" indent="0" algn="ctr">
              <a:buNone/>
            </a:pPr>
            <a:r>
              <a:rPr lang="en-US" sz="800" b="1" dirty="0">
                <a:solidFill>
                  <a:srgbClr val="FFFFFF"/>
                </a:solidFill>
              </a:rPr>
              <a:t>KLH</a:t>
            </a:r>
            <a:endParaRPr lang="en-US" sz="800" dirty="0"/>
          </a:p>
        </p:txBody>
      </p:sp>
      <p:sp>
        <p:nvSpPr>
          <p:cNvPr id="9" name="Text 7"/>
          <p:cNvSpPr/>
          <p:nvPr/>
        </p:nvSpPr>
        <p:spPr>
          <a:xfrm>
            <a:off x="685800" y="73152"/>
            <a:ext cx="1097280" cy="274320"/>
          </a:xfrm>
          <a:prstGeom prst="rect">
            <a:avLst/>
          </a:prstGeom>
          <a:noFill/>
          <a:ln/>
        </p:spPr>
        <p:txBody>
          <a:bodyPr wrap="square" rtlCol="0" anchor="ctr"/>
          <a:lstStyle/>
          <a:p>
            <a:pPr marL="0" indent="0" algn="l">
              <a:buNone/>
            </a:pPr>
            <a:endParaRPr lang="en-US" sz="1300" dirty="0"/>
          </a:p>
        </p:txBody>
      </p:sp>
      <p:sp>
        <p:nvSpPr>
          <p:cNvPr id="10" name="Text 8"/>
          <p:cNvSpPr/>
          <p:nvPr/>
        </p:nvSpPr>
        <p:spPr>
          <a:xfrm>
            <a:off x="685800" y="310896"/>
            <a:ext cx="2286000" cy="182880"/>
          </a:xfrm>
          <a:prstGeom prst="rect">
            <a:avLst/>
          </a:prstGeom>
          <a:noFill/>
          <a:ln/>
        </p:spPr>
        <p:txBody>
          <a:bodyPr wrap="square" rtlCol="0" anchor="ctr"/>
          <a:lstStyle/>
          <a:p>
            <a:pPr marL="0" indent="0" algn="l">
              <a:buNone/>
            </a:pPr>
            <a:endParaRPr lang="en-US" sz="600" dirty="0"/>
          </a:p>
        </p:txBody>
      </p:sp>
      <p:sp>
        <p:nvSpPr>
          <p:cNvPr id="11" name="Text 9"/>
          <p:cNvSpPr/>
          <p:nvPr/>
        </p:nvSpPr>
        <p:spPr>
          <a:xfrm>
            <a:off x="1645920" y="109728"/>
            <a:ext cx="7315200" cy="594360"/>
          </a:xfrm>
          <a:prstGeom prst="rect">
            <a:avLst/>
          </a:prstGeom>
          <a:noFill/>
          <a:ln/>
        </p:spPr>
        <p:txBody>
          <a:bodyPr wrap="square" rtlCol="0" anchor="ctr"/>
          <a:lstStyle/>
          <a:p>
            <a:pPr marL="0" indent="0" algn="l">
              <a:buNone/>
            </a:pPr>
            <a:r>
              <a:rPr lang="en-US" sz="3600" b="1" dirty="0">
                <a:solidFill>
                  <a:srgbClr val="5C4A00"/>
                </a:solidFill>
                <a:latin typeface="Arial Black" pitchFamily="34" charset="0"/>
                <a:ea typeface="Arial Black" pitchFamily="34" charset="-122"/>
                <a:cs typeface="Arial Black" pitchFamily="34" charset="-120"/>
              </a:rPr>
              <a:t>PROJECT MODULES</a:t>
            </a:r>
            <a:endParaRPr lang="en-US" sz="3600" dirty="0"/>
          </a:p>
        </p:txBody>
      </p:sp>
      <p:sp>
        <p:nvSpPr>
          <p:cNvPr id="12" name="Text 10"/>
          <p:cNvSpPr/>
          <p:nvPr/>
        </p:nvSpPr>
        <p:spPr>
          <a:xfrm>
            <a:off x="365760" y="777240"/>
            <a:ext cx="8412480" cy="320040"/>
          </a:xfrm>
          <a:prstGeom prst="rect">
            <a:avLst/>
          </a:prstGeom>
          <a:noFill/>
          <a:ln/>
        </p:spPr>
        <p:txBody>
          <a:bodyPr wrap="square" rtlCol="0" anchor="ctr"/>
          <a:lstStyle/>
          <a:p>
            <a:pPr marL="0" indent="0">
              <a:buNone/>
            </a:pPr>
            <a:r>
              <a:rPr lang="en-US" sz="1300" dirty="0">
                <a:solidFill>
                  <a:srgbClr val="3B3000"/>
                </a:solidFill>
                <a:latin typeface="Calibri" pitchFamily="34" charset="0"/>
                <a:ea typeface="Calibri" pitchFamily="34" charset="-122"/>
                <a:cs typeface="Calibri" pitchFamily="34" charset="-120"/>
              </a:rPr>
              <a:t>The FFPE system is divided into the following modules:</a:t>
            </a:r>
            <a:endParaRPr lang="en-US" sz="1300" dirty="0"/>
          </a:p>
        </p:txBody>
      </p:sp>
      <p:sp>
        <p:nvSpPr>
          <p:cNvPr id="13" name="Text 11"/>
          <p:cNvSpPr/>
          <p:nvPr/>
        </p:nvSpPr>
        <p:spPr>
          <a:xfrm>
            <a:off x="365760" y="1188720"/>
            <a:ext cx="8412480" cy="274320"/>
          </a:xfrm>
          <a:prstGeom prst="rect">
            <a:avLst/>
          </a:prstGeom>
          <a:noFill/>
          <a:ln/>
        </p:spPr>
        <p:txBody>
          <a:bodyPr wrap="square" rtlCol="0" anchor="ctr"/>
          <a:lstStyle/>
          <a:p>
            <a:pPr marL="0" indent="0">
              <a:buNone/>
            </a:pPr>
            <a:r>
              <a:rPr lang="en-US" sz="1300" b="1" dirty="0">
                <a:solidFill>
                  <a:srgbClr val="5C4A00"/>
                </a:solidFill>
                <a:latin typeface="Calibri" pitchFamily="34" charset="0"/>
                <a:ea typeface="Calibri" pitchFamily="34" charset="-122"/>
                <a:cs typeface="Calibri" pitchFamily="34" charset="-120"/>
              </a:rPr>
              <a:t>1. Live Dashboard Module</a:t>
            </a:r>
            <a:endParaRPr lang="en-US" sz="1300" dirty="0"/>
          </a:p>
        </p:txBody>
      </p:sp>
      <p:sp>
        <p:nvSpPr>
          <p:cNvPr id="14" name="Text 12"/>
          <p:cNvSpPr/>
          <p:nvPr/>
        </p:nvSpPr>
        <p:spPr>
          <a:xfrm>
            <a:off x="365760" y="1444752"/>
            <a:ext cx="8412480" cy="502920"/>
          </a:xfrm>
          <a:prstGeom prst="rect">
            <a:avLst/>
          </a:prstGeom>
          <a:noFill/>
          <a:ln/>
        </p:spPr>
        <p:txBody>
          <a:bodyPr wrap="square" rtlCol="0" anchor="ctr"/>
          <a:lstStyle/>
          <a:p>
            <a:pPr marL="0" indent="0">
              <a:buNone/>
            </a:pPr>
            <a:r>
              <a:rPr lang="en-US" sz="1200" dirty="0">
                <a:solidFill>
                  <a:srgbClr val="3B3000"/>
                </a:solidFill>
                <a:latin typeface="Calibri" pitchFamily="34" charset="0"/>
                <a:ea typeface="Calibri" pitchFamily="34" charset="-122"/>
                <a:cs typeface="Calibri" pitchFamily="34" charset="-120"/>
              </a:rPr>
              <a:t>HTML/CSS/JS frontend that auto-refreshes every 3 seconds, displaying Tank Fuel, ECU Fuel, Expected Fuel, Bus Route, and fraud status.</a:t>
            </a:r>
            <a:endParaRPr lang="en-US" sz="1200" dirty="0"/>
          </a:p>
        </p:txBody>
      </p:sp>
      <p:sp>
        <p:nvSpPr>
          <p:cNvPr id="15" name="Text 13"/>
          <p:cNvSpPr/>
          <p:nvPr/>
        </p:nvSpPr>
        <p:spPr>
          <a:xfrm>
            <a:off x="365760" y="2103120"/>
            <a:ext cx="8412480" cy="274320"/>
          </a:xfrm>
          <a:prstGeom prst="rect">
            <a:avLst/>
          </a:prstGeom>
          <a:noFill/>
          <a:ln/>
        </p:spPr>
        <p:txBody>
          <a:bodyPr wrap="square" rtlCol="0" anchor="ctr"/>
          <a:lstStyle/>
          <a:p>
            <a:pPr marL="0" indent="0">
              <a:buNone/>
            </a:pPr>
            <a:r>
              <a:rPr lang="en-US" sz="1300" b="1" dirty="0">
                <a:solidFill>
                  <a:srgbClr val="5C4A00"/>
                </a:solidFill>
                <a:latin typeface="Calibri" pitchFamily="34" charset="0"/>
                <a:ea typeface="Calibri" pitchFamily="34" charset="-122"/>
                <a:cs typeface="Calibri" pitchFamily="34" charset="-120"/>
              </a:rPr>
              <a:t>2. Backend Detection Module (Flask)</a:t>
            </a:r>
            <a:endParaRPr lang="en-US" sz="1300" dirty="0"/>
          </a:p>
        </p:txBody>
      </p:sp>
      <p:sp>
        <p:nvSpPr>
          <p:cNvPr id="16" name="Text 14"/>
          <p:cNvSpPr/>
          <p:nvPr/>
        </p:nvSpPr>
        <p:spPr>
          <a:xfrm>
            <a:off x="365760" y="2359152"/>
            <a:ext cx="8412480" cy="502920"/>
          </a:xfrm>
          <a:prstGeom prst="rect">
            <a:avLst/>
          </a:prstGeom>
          <a:noFill/>
          <a:ln/>
        </p:spPr>
        <p:txBody>
          <a:bodyPr wrap="square" rtlCol="0" anchor="ctr"/>
          <a:lstStyle/>
          <a:p>
            <a:pPr marL="0" indent="0">
              <a:buNone/>
            </a:pPr>
            <a:r>
              <a:rPr lang="en-US" sz="1200" dirty="0">
                <a:solidFill>
                  <a:srgbClr val="3B3000"/>
                </a:solidFill>
                <a:latin typeface="Calibri" pitchFamily="34" charset="0"/>
                <a:ea typeface="Calibri" pitchFamily="34" charset="-122"/>
                <a:cs typeface="Calibri" pitchFamily="34" charset="-120"/>
              </a:rPr>
              <a:t>Python Flask API that receives fuel data, validates API key, computes mismatch, and returns fraud or normal status.</a:t>
            </a:r>
            <a:endParaRPr lang="en-US" sz="1200" dirty="0"/>
          </a:p>
        </p:txBody>
      </p:sp>
      <p:sp>
        <p:nvSpPr>
          <p:cNvPr id="17" name="Text 15"/>
          <p:cNvSpPr/>
          <p:nvPr/>
        </p:nvSpPr>
        <p:spPr>
          <a:xfrm>
            <a:off x="365760" y="3017520"/>
            <a:ext cx="8412480" cy="274320"/>
          </a:xfrm>
          <a:prstGeom prst="rect">
            <a:avLst/>
          </a:prstGeom>
          <a:noFill/>
          <a:ln/>
        </p:spPr>
        <p:txBody>
          <a:bodyPr wrap="square" rtlCol="0" anchor="ctr"/>
          <a:lstStyle/>
          <a:p>
            <a:pPr marL="0" indent="0">
              <a:buNone/>
            </a:pPr>
            <a:r>
              <a:rPr lang="en-US" sz="1300" b="1" dirty="0">
                <a:solidFill>
                  <a:srgbClr val="5C4A00"/>
                </a:solidFill>
                <a:latin typeface="Calibri" pitchFamily="34" charset="0"/>
                <a:ea typeface="Calibri" pitchFamily="34" charset="-122"/>
                <a:cs typeface="Calibri" pitchFamily="34" charset="-120"/>
              </a:rPr>
              <a:t>3. Telegram Alert Module</a:t>
            </a:r>
            <a:endParaRPr lang="en-US" sz="1300" dirty="0"/>
          </a:p>
        </p:txBody>
      </p:sp>
      <p:sp>
        <p:nvSpPr>
          <p:cNvPr id="18" name="Text 16"/>
          <p:cNvSpPr/>
          <p:nvPr/>
        </p:nvSpPr>
        <p:spPr>
          <a:xfrm>
            <a:off x="365760" y="3273552"/>
            <a:ext cx="8412480" cy="502920"/>
          </a:xfrm>
          <a:prstGeom prst="rect">
            <a:avLst/>
          </a:prstGeom>
          <a:noFill/>
          <a:ln/>
        </p:spPr>
        <p:txBody>
          <a:bodyPr wrap="square" rtlCol="0" anchor="ctr"/>
          <a:lstStyle/>
          <a:p>
            <a:pPr marL="0" indent="0">
              <a:buNone/>
            </a:pPr>
            <a:r>
              <a:rPr lang="en-US" sz="1200" dirty="0">
                <a:solidFill>
                  <a:srgbClr val="3B3000"/>
                </a:solidFill>
                <a:latin typeface="Calibri" pitchFamily="34" charset="0"/>
                <a:ea typeface="Calibri" pitchFamily="34" charset="-122"/>
                <a:cs typeface="Calibri" pitchFamily="34" charset="-120"/>
              </a:rPr>
              <a:t>On fraud detection, sends an instant alert to the transport manager via Telegram Bot API with Bus ID, fuel loss, GPS link, and time.</a:t>
            </a:r>
            <a:endParaRPr lang="en-US" sz="1200" dirty="0"/>
          </a:p>
        </p:txBody>
      </p:sp>
      <p:sp>
        <p:nvSpPr>
          <p:cNvPr id="19" name="Text 17"/>
          <p:cNvSpPr/>
          <p:nvPr/>
        </p:nvSpPr>
        <p:spPr>
          <a:xfrm>
            <a:off x="365760" y="3931920"/>
            <a:ext cx="8412480" cy="274320"/>
          </a:xfrm>
          <a:prstGeom prst="rect">
            <a:avLst/>
          </a:prstGeom>
          <a:noFill/>
          <a:ln/>
        </p:spPr>
        <p:txBody>
          <a:bodyPr wrap="square" rtlCol="0" anchor="ctr"/>
          <a:lstStyle/>
          <a:p>
            <a:pPr marL="0" indent="0">
              <a:buNone/>
            </a:pPr>
            <a:r>
              <a:rPr lang="en-US" sz="1300" b="1" dirty="0">
                <a:solidFill>
                  <a:srgbClr val="5C4A00"/>
                </a:solidFill>
                <a:latin typeface="Calibri" pitchFamily="34" charset="0"/>
                <a:ea typeface="Calibri" pitchFamily="34" charset="-122"/>
                <a:cs typeface="Calibri" pitchFamily="34" charset="-120"/>
              </a:rPr>
              <a:t>4. DSA / Java Module</a:t>
            </a:r>
            <a:endParaRPr lang="en-US" sz="1300" dirty="0"/>
          </a:p>
        </p:txBody>
      </p:sp>
      <p:sp>
        <p:nvSpPr>
          <p:cNvPr id="20" name="Text 18"/>
          <p:cNvSpPr/>
          <p:nvPr/>
        </p:nvSpPr>
        <p:spPr>
          <a:xfrm>
            <a:off x="365760" y="4187952"/>
            <a:ext cx="8412480" cy="502920"/>
          </a:xfrm>
          <a:prstGeom prst="rect">
            <a:avLst/>
          </a:prstGeom>
          <a:noFill/>
          <a:ln/>
        </p:spPr>
        <p:txBody>
          <a:bodyPr wrap="square" rtlCol="0" anchor="ctr"/>
          <a:lstStyle/>
          <a:p>
            <a:pPr marL="0" indent="0">
              <a:buNone/>
            </a:pPr>
            <a:r>
              <a:rPr lang="en-US" sz="1200" dirty="0">
                <a:solidFill>
                  <a:srgbClr val="3B3000"/>
                </a:solidFill>
                <a:latin typeface="Calibri" pitchFamily="34" charset="0"/>
                <a:ea typeface="Calibri" pitchFamily="34" charset="-122"/>
                <a:cs typeface="Calibri" pitchFamily="34" charset="-120"/>
              </a:rPr>
              <a:t>Java implementation of the fraud detection algorithm using absolute difference logic to demonstrate the core DSA concept.</a:t>
            </a:r>
            <a:endParaRPr lang="en-US" sz="1200" dirty="0"/>
          </a:p>
        </p:txBody>
      </p:sp>
      <p:pic>
        <p:nvPicPr>
          <p:cNvPr id="22" name="Picture 2" descr="Registration - Best Private University in Telangana &amp; Andhra Pradesh | KLH  Hyderabad"/>
          <p:cNvPicPr>
            <a:picLocks noChangeAspect="1" noChangeArrowheads="1"/>
          </p:cNvPicPr>
          <p:nvPr/>
        </p:nvPicPr>
        <p:blipFill>
          <a:blip r:embed="rId3"/>
          <a:srcRect/>
          <a:stretch>
            <a:fillRect/>
          </a:stretch>
        </p:blipFill>
        <p:spPr bwMode="auto">
          <a:xfrm>
            <a:off x="123113" y="73153"/>
            <a:ext cx="1529079" cy="655319"/>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EDE6"/>
        </a:solidFill>
        <a:effectLst/>
      </p:bgPr>
    </p:bg>
    <p:spTree>
      <p:nvGrpSpPr>
        <p:cNvPr id="1" name=""/>
        <p:cNvGrpSpPr/>
        <p:nvPr/>
      </p:nvGrpSpPr>
      <p:grpSpPr>
        <a:xfrm>
          <a:off x="0" y="0"/>
          <a:ext cx="0" cy="0"/>
          <a:chOff x="0" y="0"/>
          <a:chExt cx="0" cy="0"/>
        </a:xfrm>
      </p:grpSpPr>
      <p:sp>
        <p:nvSpPr>
          <p:cNvPr id="2" name="Shape 0"/>
          <p:cNvSpPr/>
          <p:nvPr/>
        </p:nvSpPr>
        <p:spPr>
          <a:xfrm>
            <a:off x="8046720" y="-457200"/>
            <a:ext cx="1463040" cy="1463040"/>
          </a:xfrm>
          <a:prstGeom prst="ellipse">
            <a:avLst/>
          </a:prstGeom>
          <a:solidFill>
            <a:srgbClr val="C4A882">
              <a:alpha val="80000"/>
            </a:srgbClr>
          </a:solidFill>
          <a:ln w="12700">
            <a:solidFill>
              <a:srgbClr val="C4A882">
                <a:alpha val="80000"/>
              </a:srgbClr>
            </a:solidFill>
            <a:prstDash val="solid"/>
          </a:ln>
        </p:spPr>
      </p:sp>
      <p:sp>
        <p:nvSpPr>
          <p:cNvPr id="3" name="Shape 1"/>
          <p:cNvSpPr/>
          <p:nvPr/>
        </p:nvSpPr>
        <p:spPr>
          <a:xfrm>
            <a:off x="-457200" y="3840480"/>
            <a:ext cx="1828800" cy="1645920"/>
          </a:xfrm>
          <a:prstGeom prst="ellipse">
            <a:avLst/>
          </a:prstGeom>
          <a:solidFill>
            <a:srgbClr val="D9C9B0">
              <a:alpha val="70000"/>
            </a:srgbClr>
          </a:solidFill>
          <a:ln w="12700">
            <a:solidFill>
              <a:srgbClr val="D9C9B0">
                <a:alpha val="70000"/>
              </a:srgbClr>
            </a:solidFill>
            <a:prstDash val="solid"/>
          </a:ln>
        </p:spPr>
      </p:sp>
      <p:sp>
        <p:nvSpPr>
          <p:cNvPr id="4" name="Shape 2"/>
          <p:cNvSpPr/>
          <p:nvPr/>
        </p:nvSpPr>
        <p:spPr>
          <a:xfrm>
            <a:off x="7772400" y="4114800"/>
            <a:ext cx="1645920" cy="1371600"/>
          </a:xfrm>
          <a:prstGeom prst="ellipse">
            <a:avLst/>
          </a:prstGeom>
          <a:solidFill>
            <a:srgbClr val="C4A882">
              <a:alpha val="75000"/>
            </a:srgbClr>
          </a:solidFill>
          <a:ln w="12700">
            <a:solidFill>
              <a:srgbClr val="C4A882">
                <a:alpha val="75000"/>
              </a:srgbClr>
            </a:solidFill>
            <a:prstDash val="solid"/>
          </a:ln>
        </p:spPr>
      </p:sp>
      <p:sp>
        <p:nvSpPr>
          <p:cNvPr id="5" name="Shape 3"/>
          <p:cNvSpPr/>
          <p:nvPr/>
        </p:nvSpPr>
        <p:spPr>
          <a:xfrm>
            <a:off x="-731520" y="914400"/>
            <a:ext cx="2011680" cy="2286000"/>
          </a:xfrm>
          <a:prstGeom prst="ellipse">
            <a:avLst/>
          </a:prstGeom>
          <a:solidFill>
            <a:srgbClr val="D9C9B0">
              <a:alpha val="60000"/>
            </a:srgbClr>
          </a:solidFill>
          <a:ln w="12700">
            <a:solidFill>
              <a:srgbClr val="D9C9B0">
                <a:alpha val="60000"/>
              </a:srgbClr>
            </a:solidFill>
            <a:prstDash val="solid"/>
          </a:ln>
        </p:spPr>
      </p:sp>
      <p:sp>
        <p:nvSpPr>
          <p:cNvPr id="6" name="Shape 4"/>
          <p:cNvSpPr/>
          <p:nvPr/>
        </p:nvSpPr>
        <p:spPr>
          <a:xfrm>
            <a:off x="8229600" y="2560320"/>
            <a:ext cx="1371600" cy="1828800"/>
          </a:xfrm>
          <a:prstGeom prst="ellipse">
            <a:avLst/>
          </a:prstGeom>
          <a:solidFill>
            <a:srgbClr val="D9C9B0">
              <a:alpha val="50000"/>
            </a:srgbClr>
          </a:solidFill>
          <a:ln w="12700">
            <a:solidFill>
              <a:srgbClr val="D9C9B0">
                <a:alpha val="50000"/>
              </a:srgbClr>
            </a:solidFill>
            <a:prstDash val="solid"/>
          </a:ln>
        </p:spPr>
      </p:sp>
      <p:sp>
        <p:nvSpPr>
          <p:cNvPr id="8" name="Text 6"/>
          <p:cNvSpPr/>
          <p:nvPr/>
        </p:nvSpPr>
        <p:spPr>
          <a:xfrm>
            <a:off x="137160" y="91440"/>
            <a:ext cx="502920" cy="502920"/>
          </a:xfrm>
          <a:prstGeom prst="rect">
            <a:avLst/>
          </a:prstGeom>
          <a:noFill/>
          <a:ln/>
        </p:spPr>
        <p:txBody>
          <a:bodyPr wrap="square" rtlCol="0" anchor="ctr"/>
          <a:lstStyle/>
          <a:p>
            <a:pPr marL="0" indent="0" algn="ctr">
              <a:buNone/>
            </a:pPr>
            <a:r>
              <a:rPr lang="en-US" sz="800" b="1" dirty="0">
                <a:solidFill>
                  <a:srgbClr val="FFFFFF"/>
                </a:solidFill>
              </a:rPr>
              <a:t>KLH</a:t>
            </a:r>
            <a:endParaRPr lang="en-US" sz="800" dirty="0"/>
          </a:p>
        </p:txBody>
      </p:sp>
      <p:sp>
        <p:nvSpPr>
          <p:cNvPr id="9" name="Text 7"/>
          <p:cNvSpPr/>
          <p:nvPr/>
        </p:nvSpPr>
        <p:spPr>
          <a:xfrm>
            <a:off x="685800" y="73152"/>
            <a:ext cx="1097280" cy="274320"/>
          </a:xfrm>
          <a:prstGeom prst="rect">
            <a:avLst/>
          </a:prstGeom>
          <a:noFill/>
          <a:ln/>
        </p:spPr>
        <p:txBody>
          <a:bodyPr wrap="square" rtlCol="0" anchor="ctr"/>
          <a:lstStyle/>
          <a:p>
            <a:pPr marL="0" indent="0" algn="l">
              <a:buNone/>
            </a:pPr>
            <a:endParaRPr lang="en-US" sz="1300" dirty="0"/>
          </a:p>
        </p:txBody>
      </p:sp>
      <p:sp>
        <p:nvSpPr>
          <p:cNvPr id="11" name="Text 9"/>
          <p:cNvSpPr/>
          <p:nvPr/>
        </p:nvSpPr>
        <p:spPr>
          <a:xfrm>
            <a:off x="1999067" y="146304"/>
            <a:ext cx="7315200" cy="594360"/>
          </a:xfrm>
          <a:prstGeom prst="rect">
            <a:avLst/>
          </a:prstGeom>
          <a:noFill/>
          <a:ln/>
        </p:spPr>
        <p:txBody>
          <a:bodyPr wrap="square" rtlCol="0" anchor="ctr"/>
          <a:lstStyle/>
          <a:p>
            <a:pPr marL="0" indent="0" algn="l">
              <a:buNone/>
            </a:pPr>
            <a:r>
              <a:rPr lang="en-US" sz="4400" b="1" dirty="0">
                <a:solidFill>
                  <a:srgbClr val="5C4A00"/>
                </a:solidFill>
                <a:latin typeface="Arial Black" pitchFamily="34" charset="0"/>
                <a:ea typeface="Arial Black" pitchFamily="34" charset="-122"/>
                <a:cs typeface="Arial Black" pitchFamily="34" charset="-120"/>
              </a:rPr>
              <a:t>OBJECTIVES</a:t>
            </a:r>
            <a:endParaRPr lang="en-US" sz="4400" dirty="0"/>
          </a:p>
        </p:txBody>
      </p:sp>
      <p:sp>
        <p:nvSpPr>
          <p:cNvPr id="12" name="Text 10"/>
          <p:cNvSpPr/>
          <p:nvPr/>
        </p:nvSpPr>
        <p:spPr>
          <a:xfrm>
            <a:off x="457200" y="1161288"/>
            <a:ext cx="8412480" cy="3931920"/>
          </a:xfrm>
          <a:prstGeom prst="rect">
            <a:avLst/>
          </a:prstGeom>
          <a:noFill/>
          <a:ln/>
        </p:spPr>
        <p:txBody>
          <a:bodyPr wrap="square" rtlCol="0" anchor="t"/>
          <a:lstStyle/>
          <a:p>
            <a:pPr marL="0" indent="0" algn="l">
              <a:spcAft>
                <a:spcPts val="1000"/>
              </a:spcAft>
              <a:buNone/>
            </a:pPr>
            <a:r>
              <a:rPr lang="en-US" sz="1400" dirty="0">
                <a:solidFill>
                  <a:srgbClr val="3B3000"/>
                </a:solidFill>
                <a:latin typeface="Calibri" pitchFamily="34" charset="0"/>
                <a:ea typeface="Calibri" pitchFamily="34" charset="-122"/>
                <a:cs typeface="Calibri" pitchFamily="34" charset="-120"/>
              </a:rPr>
              <a:t>The main objective of FFPE is to build an automated, real-time fuel fraud detection system for campus bus fleets. It aims to replace manual fuel auditing with a technology-driven solution that continuously compares tank sensor readings with ECU data and expected fuel values.</a:t>
            </a:r>
            <a:endParaRPr lang="en-US" sz="1400" dirty="0"/>
          </a:p>
          <a:p>
            <a:pPr marL="0" indent="0" algn="l">
              <a:spcAft>
                <a:spcPts val="1000"/>
              </a:spcAft>
              <a:buNone/>
            </a:pPr>
            <a:endParaRPr lang="en-US" sz="1400" dirty="0"/>
          </a:p>
          <a:p>
            <a:pPr marL="0" indent="0" algn="l">
              <a:spcAft>
                <a:spcPts val="1000"/>
              </a:spcAft>
              <a:buNone/>
            </a:pPr>
            <a:r>
              <a:rPr lang="en-US" sz="1400" dirty="0">
                <a:solidFill>
                  <a:srgbClr val="3B3000"/>
                </a:solidFill>
                <a:latin typeface="Calibri" pitchFamily="34" charset="0"/>
                <a:ea typeface="Calibri" pitchFamily="34" charset="-122"/>
                <a:cs typeface="Calibri" pitchFamily="34" charset="-120"/>
              </a:rPr>
              <a:t>Another objective is to demonstrate the practical application of web development (FWD) and data structures &amp; algorithms (DSA) in solving a real-world problem. The system ensures instant alerts on fraud detection via Telegram, enabling rapid response from fleet managers. Future objectives include integration with actual IoT fuel sensors, GPS vehicle tracking, and fleet-wide analytics for pattern-based fraud prevention.</a:t>
            </a:r>
            <a:endParaRPr lang="en-US" sz="1400" dirty="0"/>
          </a:p>
        </p:txBody>
      </p:sp>
      <p:pic>
        <p:nvPicPr>
          <p:cNvPr id="14" name="Picture 2" descr="Registration - Best Private University in Telangana &amp; Andhra Pradesh | KLH  Hyderabad"/>
          <p:cNvPicPr>
            <a:picLocks noChangeAspect="1" noChangeArrowheads="1"/>
          </p:cNvPicPr>
          <p:nvPr/>
        </p:nvPicPr>
        <p:blipFill>
          <a:blip r:embed="rId3"/>
          <a:srcRect/>
          <a:stretch>
            <a:fillRect/>
          </a:stretch>
        </p:blipFill>
        <p:spPr bwMode="auto">
          <a:xfrm>
            <a:off x="123113" y="73153"/>
            <a:ext cx="1529079" cy="655319"/>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EDE6"/>
        </a:solidFill>
        <a:effectLst/>
      </p:bgPr>
    </p:bg>
    <p:spTree>
      <p:nvGrpSpPr>
        <p:cNvPr id="1" name=""/>
        <p:cNvGrpSpPr/>
        <p:nvPr/>
      </p:nvGrpSpPr>
      <p:grpSpPr>
        <a:xfrm>
          <a:off x="0" y="0"/>
          <a:ext cx="0" cy="0"/>
          <a:chOff x="0" y="0"/>
          <a:chExt cx="0" cy="0"/>
        </a:xfrm>
      </p:grpSpPr>
      <p:sp>
        <p:nvSpPr>
          <p:cNvPr id="2" name="Shape 0"/>
          <p:cNvSpPr/>
          <p:nvPr/>
        </p:nvSpPr>
        <p:spPr>
          <a:xfrm>
            <a:off x="8046720" y="-457200"/>
            <a:ext cx="1463040" cy="1463040"/>
          </a:xfrm>
          <a:prstGeom prst="ellipse">
            <a:avLst/>
          </a:prstGeom>
          <a:solidFill>
            <a:srgbClr val="C4A882">
              <a:alpha val="80000"/>
            </a:srgbClr>
          </a:solidFill>
          <a:ln w="12700">
            <a:solidFill>
              <a:srgbClr val="C4A882">
                <a:alpha val="80000"/>
              </a:srgbClr>
            </a:solidFill>
            <a:prstDash val="solid"/>
          </a:ln>
        </p:spPr>
      </p:sp>
      <p:sp>
        <p:nvSpPr>
          <p:cNvPr id="3" name="Shape 1"/>
          <p:cNvSpPr/>
          <p:nvPr/>
        </p:nvSpPr>
        <p:spPr>
          <a:xfrm>
            <a:off x="-457200" y="3840480"/>
            <a:ext cx="1828800" cy="1645920"/>
          </a:xfrm>
          <a:prstGeom prst="ellipse">
            <a:avLst/>
          </a:prstGeom>
          <a:solidFill>
            <a:srgbClr val="D9C9B0">
              <a:alpha val="70000"/>
            </a:srgbClr>
          </a:solidFill>
          <a:ln w="12700">
            <a:solidFill>
              <a:srgbClr val="D9C9B0">
                <a:alpha val="70000"/>
              </a:srgbClr>
            </a:solidFill>
            <a:prstDash val="solid"/>
          </a:ln>
        </p:spPr>
      </p:sp>
      <p:sp>
        <p:nvSpPr>
          <p:cNvPr id="4" name="Shape 2"/>
          <p:cNvSpPr/>
          <p:nvPr/>
        </p:nvSpPr>
        <p:spPr>
          <a:xfrm>
            <a:off x="7772400" y="4114800"/>
            <a:ext cx="1645920" cy="1371600"/>
          </a:xfrm>
          <a:prstGeom prst="ellipse">
            <a:avLst/>
          </a:prstGeom>
          <a:solidFill>
            <a:srgbClr val="C4A882">
              <a:alpha val="75000"/>
            </a:srgbClr>
          </a:solidFill>
          <a:ln w="12700">
            <a:solidFill>
              <a:srgbClr val="C4A882">
                <a:alpha val="75000"/>
              </a:srgbClr>
            </a:solidFill>
            <a:prstDash val="solid"/>
          </a:ln>
        </p:spPr>
      </p:sp>
      <p:sp>
        <p:nvSpPr>
          <p:cNvPr id="5" name="Shape 3"/>
          <p:cNvSpPr/>
          <p:nvPr/>
        </p:nvSpPr>
        <p:spPr>
          <a:xfrm>
            <a:off x="-777240" y="726948"/>
            <a:ext cx="2011680" cy="2286000"/>
          </a:xfrm>
          <a:prstGeom prst="ellipse">
            <a:avLst/>
          </a:prstGeom>
          <a:solidFill>
            <a:srgbClr val="D9C9B0">
              <a:alpha val="60000"/>
            </a:srgbClr>
          </a:solidFill>
          <a:ln w="12700">
            <a:solidFill>
              <a:srgbClr val="D9C9B0">
                <a:alpha val="60000"/>
              </a:srgbClr>
            </a:solidFill>
            <a:prstDash val="solid"/>
          </a:ln>
        </p:spPr>
      </p:sp>
      <p:sp>
        <p:nvSpPr>
          <p:cNvPr id="6" name="Shape 4"/>
          <p:cNvSpPr/>
          <p:nvPr/>
        </p:nvSpPr>
        <p:spPr>
          <a:xfrm>
            <a:off x="8229600" y="2560320"/>
            <a:ext cx="1371600" cy="1828800"/>
          </a:xfrm>
          <a:prstGeom prst="ellipse">
            <a:avLst/>
          </a:prstGeom>
          <a:solidFill>
            <a:srgbClr val="D9C9B0">
              <a:alpha val="50000"/>
            </a:srgbClr>
          </a:solidFill>
          <a:ln w="12700">
            <a:solidFill>
              <a:srgbClr val="D9C9B0">
                <a:alpha val="50000"/>
              </a:srgbClr>
            </a:solidFill>
            <a:prstDash val="solid"/>
          </a:ln>
        </p:spPr>
      </p:sp>
      <p:sp>
        <p:nvSpPr>
          <p:cNvPr id="8" name="Text 6"/>
          <p:cNvSpPr/>
          <p:nvPr/>
        </p:nvSpPr>
        <p:spPr>
          <a:xfrm>
            <a:off x="137160" y="91440"/>
            <a:ext cx="502920" cy="502920"/>
          </a:xfrm>
          <a:prstGeom prst="rect">
            <a:avLst/>
          </a:prstGeom>
          <a:noFill/>
          <a:ln/>
        </p:spPr>
        <p:txBody>
          <a:bodyPr wrap="square" rtlCol="0" anchor="ctr"/>
          <a:lstStyle/>
          <a:p>
            <a:pPr marL="0" indent="0" algn="ctr">
              <a:buNone/>
            </a:pPr>
            <a:r>
              <a:rPr lang="en-US" sz="800" b="1" dirty="0">
                <a:solidFill>
                  <a:srgbClr val="FFFFFF"/>
                </a:solidFill>
              </a:rPr>
              <a:t>KLH</a:t>
            </a:r>
            <a:endParaRPr lang="en-US" sz="800" dirty="0"/>
          </a:p>
        </p:txBody>
      </p:sp>
      <p:sp>
        <p:nvSpPr>
          <p:cNvPr id="9" name="Text 7"/>
          <p:cNvSpPr/>
          <p:nvPr/>
        </p:nvSpPr>
        <p:spPr>
          <a:xfrm>
            <a:off x="685800" y="73152"/>
            <a:ext cx="1097280" cy="274320"/>
          </a:xfrm>
          <a:prstGeom prst="rect">
            <a:avLst/>
          </a:prstGeom>
          <a:noFill/>
          <a:ln/>
        </p:spPr>
        <p:txBody>
          <a:bodyPr wrap="square" rtlCol="0" anchor="ctr"/>
          <a:lstStyle/>
          <a:p>
            <a:pPr marL="0" indent="0" algn="l">
              <a:buNone/>
            </a:pPr>
            <a:endParaRPr lang="en-US" sz="1300" dirty="0"/>
          </a:p>
        </p:txBody>
      </p:sp>
      <p:sp>
        <p:nvSpPr>
          <p:cNvPr id="10" name="Text 8"/>
          <p:cNvSpPr/>
          <p:nvPr/>
        </p:nvSpPr>
        <p:spPr>
          <a:xfrm>
            <a:off x="685800" y="310896"/>
            <a:ext cx="2286000" cy="182880"/>
          </a:xfrm>
          <a:prstGeom prst="rect">
            <a:avLst/>
          </a:prstGeom>
          <a:noFill/>
          <a:ln/>
        </p:spPr>
        <p:txBody>
          <a:bodyPr wrap="square" rtlCol="0" anchor="ctr"/>
          <a:lstStyle/>
          <a:p>
            <a:pPr marL="0" indent="0" algn="l">
              <a:buNone/>
            </a:pPr>
            <a:endParaRPr lang="en-US" sz="600" dirty="0"/>
          </a:p>
        </p:txBody>
      </p:sp>
      <p:sp>
        <p:nvSpPr>
          <p:cNvPr id="12" name="Text 10"/>
          <p:cNvSpPr/>
          <p:nvPr/>
        </p:nvSpPr>
        <p:spPr>
          <a:xfrm>
            <a:off x="1371600" y="109728"/>
            <a:ext cx="7315200" cy="640080"/>
          </a:xfrm>
          <a:prstGeom prst="rect">
            <a:avLst/>
          </a:prstGeom>
          <a:noFill/>
          <a:ln/>
        </p:spPr>
        <p:txBody>
          <a:bodyPr wrap="square" rtlCol="0" anchor="ctr"/>
          <a:lstStyle/>
          <a:p>
            <a:pPr marL="0" indent="0" algn="l">
              <a:buNone/>
            </a:pPr>
            <a:r>
              <a:rPr lang="en-US" sz="3600" b="1" dirty="0">
                <a:solidFill>
                  <a:srgbClr val="5C4A00"/>
                </a:solidFill>
                <a:latin typeface="Arial Black" pitchFamily="34" charset="0"/>
                <a:ea typeface="Arial Black" pitchFamily="34" charset="-122"/>
                <a:cs typeface="Arial Black" pitchFamily="34" charset="-120"/>
              </a:rPr>
              <a:t>CO'S ATTAINMENTS – FWD</a:t>
            </a:r>
            <a:endParaRPr lang="en-US" sz="3600" dirty="0"/>
          </a:p>
        </p:txBody>
      </p:sp>
      <p:sp>
        <p:nvSpPr>
          <p:cNvPr id="13" name="Text 11"/>
          <p:cNvSpPr/>
          <p:nvPr/>
        </p:nvSpPr>
        <p:spPr>
          <a:xfrm>
            <a:off x="457200" y="914400"/>
            <a:ext cx="8321040" cy="685800"/>
          </a:xfrm>
          <a:prstGeom prst="rect">
            <a:avLst/>
          </a:prstGeom>
          <a:noFill/>
          <a:ln/>
        </p:spPr>
        <p:txBody>
          <a:bodyPr wrap="square" rtlCol="0" anchor="ctr"/>
          <a:lstStyle/>
          <a:p>
            <a:pPr marL="0" indent="0">
              <a:buNone/>
            </a:pPr>
            <a:r>
              <a:rPr lang="en-US" sz="1300" b="1" dirty="0">
                <a:solidFill>
                  <a:srgbClr val="3B3000"/>
                </a:solidFill>
                <a:latin typeface="Calibri" pitchFamily="34" charset="0"/>
                <a:ea typeface="Calibri" pitchFamily="34" charset="-122"/>
                <a:cs typeface="Calibri" pitchFamily="34" charset="-120"/>
              </a:rPr>
              <a:t>CO1: </a:t>
            </a:r>
            <a:r>
              <a:rPr lang="en-US" sz="1300" dirty="0">
                <a:solidFill>
                  <a:srgbClr val="3B3000"/>
                </a:solidFill>
                <a:latin typeface="Calibri" pitchFamily="34" charset="0"/>
                <a:ea typeface="Calibri" pitchFamily="34" charset="-122"/>
                <a:cs typeface="Calibri" pitchFamily="34" charset="-120"/>
              </a:rPr>
              <a:t>Design a user interface for the Fuel Fraud Detection live dashboard using HTML and CSS.</a:t>
            </a:r>
            <a:endParaRPr lang="en-US" sz="1300" dirty="0"/>
          </a:p>
        </p:txBody>
      </p:sp>
      <p:sp>
        <p:nvSpPr>
          <p:cNvPr id="14" name="Text 12"/>
          <p:cNvSpPr/>
          <p:nvPr/>
        </p:nvSpPr>
        <p:spPr>
          <a:xfrm>
            <a:off x="457200" y="1719072"/>
            <a:ext cx="8321040" cy="685800"/>
          </a:xfrm>
          <a:prstGeom prst="rect">
            <a:avLst/>
          </a:prstGeom>
          <a:noFill/>
          <a:ln/>
        </p:spPr>
        <p:txBody>
          <a:bodyPr wrap="square" rtlCol="0" anchor="ctr"/>
          <a:lstStyle/>
          <a:p>
            <a:pPr marL="0" indent="0">
              <a:buNone/>
            </a:pPr>
            <a:r>
              <a:rPr lang="en-US" sz="1300" b="1" dirty="0">
                <a:solidFill>
                  <a:srgbClr val="3B3000"/>
                </a:solidFill>
                <a:latin typeface="Calibri" pitchFamily="34" charset="0"/>
                <a:ea typeface="Calibri" pitchFamily="34" charset="-122"/>
                <a:cs typeface="Calibri" pitchFamily="34" charset="-120"/>
              </a:rPr>
              <a:t>CO2: </a:t>
            </a:r>
            <a:r>
              <a:rPr lang="en-US" sz="1300" dirty="0">
                <a:solidFill>
                  <a:srgbClr val="3B3000"/>
                </a:solidFill>
                <a:latin typeface="Calibri" pitchFamily="34" charset="0"/>
                <a:ea typeface="Calibri" pitchFamily="34" charset="-122"/>
                <a:cs typeface="Calibri" pitchFamily="34" charset="-120"/>
              </a:rPr>
              <a:t>Use HTML and CSS to create structured and visually styled web pages for the FFPDE system.</a:t>
            </a:r>
            <a:endParaRPr lang="en-US" sz="1300" dirty="0"/>
          </a:p>
        </p:txBody>
      </p:sp>
      <p:sp>
        <p:nvSpPr>
          <p:cNvPr id="15" name="Text 13"/>
          <p:cNvSpPr/>
          <p:nvPr/>
        </p:nvSpPr>
        <p:spPr>
          <a:xfrm>
            <a:off x="457200" y="2523744"/>
            <a:ext cx="8321040" cy="685800"/>
          </a:xfrm>
          <a:prstGeom prst="rect">
            <a:avLst/>
          </a:prstGeom>
          <a:noFill/>
          <a:ln/>
        </p:spPr>
        <p:txBody>
          <a:bodyPr wrap="square" rtlCol="0" anchor="ctr"/>
          <a:lstStyle/>
          <a:p>
            <a:pPr marL="0" indent="0">
              <a:buNone/>
            </a:pPr>
            <a:r>
              <a:rPr lang="en-US" sz="1300" b="1" dirty="0">
                <a:solidFill>
                  <a:srgbClr val="3B3000"/>
                </a:solidFill>
                <a:latin typeface="Calibri" pitchFamily="34" charset="0"/>
                <a:ea typeface="Calibri" pitchFamily="34" charset="-122"/>
                <a:cs typeface="Calibri" pitchFamily="34" charset="-120"/>
              </a:rPr>
              <a:t>CO3: </a:t>
            </a:r>
            <a:r>
              <a:rPr lang="en-US" sz="1300" dirty="0">
                <a:solidFill>
                  <a:srgbClr val="3B3000"/>
                </a:solidFill>
                <a:latin typeface="Calibri" pitchFamily="34" charset="0"/>
                <a:ea typeface="Calibri" pitchFamily="34" charset="-122"/>
                <a:cs typeface="Calibri" pitchFamily="34" charset="-120"/>
              </a:rPr>
              <a:t>Use JavaScript to implement auto-refresh, fetch API calls, and dynamic status updates on the dashboard.</a:t>
            </a:r>
            <a:endParaRPr lang="en-US" sz="1300" dirty="0"/>
          </a:p>
        </p:txBody>
      </p:sp>
      <p:sp>
        <p:nvSpPr>
          <p:cNvPr id="16" name="Text 14"/>
          <p:cNvSpPr/>
          <p:nvPr/>
        </p:nvSpPr>
        <p:spPr>
          <a:xfrm>
            <a:off x="457200" y="3328416"/>
            <a:ext cx="8321040" cy="685800"/>
          </a:xfrm>
          <a:prstGeom prst="rect">
            <a:avLst/>
          </a:prstGeom>
          <a:noFill/>
          <a:ln/>
        </p:spPr>
        <p:txBody>
          <a:bodyPr wrap="square" rtlCol="0" anchor="ctr"/>
          <a:lstStyle/>
          <a:p>
            <a:pPr marL="0" indent="0">
              <a:buNone/>
            </a:pPr>
            <a:r>
              <a:rPr lang="en-US" sz="1300" b="1" dirty="0">
                <a:solidFill>
                  <a:srgbClr val="3B3000"/>
                </a:solidFill>
                <a:latin typeface="Calibri" pitchFamily="34" charset="0"/>
                <a:ea typeface="Calibri" pitchFamily="34" charset="-122"/>
                <a:cs typeface="Calibri" pitchFamily="34" charset="-120"/>
              </a:rPr>
              <a:t>CO4: </a:t>
            </a:r>
            <a:r>
              <a:rPr lang="en-US" sz="1300" dirty="0">
                <a:solidFill>
                  <a:srgbClr val="3B3000"/>
                </a:solidFill>
                <a:latin typeface="Calibri" pitchFamily="34" charset="0"/>
                <a:ea typeface="Calibri" pitchFamily="34" charset="-122"/>
                <a:cs typeface="Calibri" pitchFamily="34" charset="-120"/>
              </a:rPr>
              <a:t>Create an interactive dashboard with live fuel monitoring, route selection, and manual analyze functionality.</a:t>
            </a:r>
            <a:endParaRPr lang="en-US" sz="1300" dirty="0"/>
          </a:p>
        </p:txBody>
      </p:sp>
      <p:sp>
        <p:nvSpPr>
          <p:cNvPr id="17" name="Text 15"/>
          <p:cNvSpPr/>
          <p:nvPr/>
        </p:nvSpPr>
        <p:spPr>
          <a:xfrm>
            <a:off x="457200" y="4133088"/>
            <a:ext cx="8321040" cy="685800"/>
          </a:xfrm>
          <a:prstGeom prst="rect">
            <a:avLst/>
          </a:prstGeom>
          <a:noFill/>
          <a:ln/>
        </p:spPr>
        <p:txBody>
          <a:bodyPr wrap="square" rtlCol="0" anchor="ctr"/>
          <a:lstStyle/>
          <a:p>
            <a:pPr marL="0" indent="0">
              <a:buNone/>
            </a:pPr>
            <a:r>
              <a:rPr lang="en-US" sz="1300" b="1" dirty="0">
                <a:solidFill>
                  <a:srgbClr val="3B3000"/>
                </a:solidFill>
                <a:latin typeface="Calibri" pitchFamily="34" charset="0"/>
                <a:ea typeface="Calibri" pitchFamily="34" charset="-122"/>
                <a:cs typeface="Calibri" pitchFamily="34" charset="-120"/>
              </a:rPr>
              <a:t>CO5: </a:t>
            </a:r>
            <a:r>
              <a:rPr lang="en-US" sz="1300" dirty="0">
                <a:solidFill>
                  <a:srgbClr val="3B3000"/>
                </a:solidFill>
                <a:latin typeface="Calibri" pitchFamily="34" charset="0"/>
                <a:ea typeface="Calibri" pitchFamily="34" charset="-122"/>
                <a:cs typeface="Calibri" pitchFamily="34" charset="-120"/>
              </a:rPr>
              <a:t>Integrate the frontend with a Flask REST API backend for real-time bidirectional data communication.</a:t>
            </a:r>
            <a:endParaRPr lang="en-US" sz="1300" dirty="0"/>
          </a:p>
        </p:txBody>
      </p:sp>
      <p:pic>
        <p:nvPicPr>
          <p:cNvPr id="18" name="Picture 2" descr="Registration - Best Private University in Telangana &amp; Andhra Pradesh | KLH  Hyderabad"/>
          <p:cNvPicPr>
            <a:picLocks noChangeAspect="1" noChangeArrowheads="1"/>
          </p:cNvPicPr>
          <p:nvPr/>
        </p:nvPicPr>
        <p:blipFill>
          <a:blip r:embed="rId3"/>
          <a:srcRect/>
          <a:stretch>
            <a:fillRect/>
          </a:stretch>
        </p:blipFill>
        <p:spPr bwMode="auto">
          <a:xfrm>
            <a:off x="0" y="73153"/>
            <a:ext cx="1529079" cy="655319"/>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EDE6"/>
        </a:solidFill>
        <a:effectLst/>
      </p:bgPr>
    </p:bg>
    <p:spTree>
      <p:nvGrpSpPr>
        <p:cNvPr id="1" name=""/>
        <p:cNvGrpSpPr/>
        <p:nvPr/>
      </p:nvGrpSpPr>
      <p:grpSpPr>
        <a:xfrm>
          <a:off x="0" y="0"/>
          <a:ext cx="0" cy="0"/>
          <a:chOff x="0" y="0"/>
          <a:chExt cx="0" cy="0"/>
        </a:xfrm>
      </p:grpSpPr>
      <p:sp>
        <p:nvSpPr>
          <p:cNvPr id="2" name="Shape 0"/>
          <p:cNvSpPr/>
          <p:nvPr/>
        </p:nvSpPr>
        <p:spPr>
          <a:xfrm>
            <a:off x="8046720" y="-457200"/>
            <a:ext cx="1463040" cy="1463040"/>
          </a:xfrm>
          <a:prstGeom prst="ellipse">
            <a:avLst/>
          </a:prstGeom>
          <a:solidFill>
            <a:srgbClr val="C4A882">
              <a:alpha val="80000"/>
            </a:srgbClr>
          </a:solidFill>
          <a:ln w="12700">
            <a:solidFill>
              <a:srgbClr val="C4A882">
                <a:alpha val="80000"/>
              </a:srgbClr>
            </a:solidFill>
            <a:prstDash val="solid"/>
          </a:ln>
        </p:spPr>
      </p:sp>
      <p:sp>
        <p:nvSpPr>
          <p:cNvPr id="3" name="Shape 1"/>
          <p:cNvSpPr/>
          <p:nvPr/>
        </p:nvSpPr>
        <p:spPr>
          <a:xfrm>
            <a:off x="-457200" y="3840480"/>
            <a:ext cx="1828800" cy="1645920"/>
          </a:xfrm>
          <a:prstGeom prst="ellipse">
            <a:avLst/>
          </a:prstGeom>
          <a:solidFill>
            <a:srgbClr val="D9C9B0">
              <a:alpha val="70000"/>
            </a:srgbClr>
          </a:solidFill>
          <a:ln w="12700">
            <a:solidFill>
              <a:srgbClr val="D9C9B0">
                <a:alpha val="70000"/>
              </a:srgbClr>
            </a:solidFill>
            <a:prstDash val="solid"/>
          </a:ln>
        </p:spPr>
      </p:sp>
      <p:sp>
        <p:nvSpPr>
          <p:cNvPr id="4" name="Shape 2"/>
          <p:cNvSpPr/>
          <p:nvPr/>
        </p:nvSpPr>
        <p:spPr>
          <a:xfrm>
            <a:off x="7772400" y="4114800"/>
            <a:ext cx="1645920" cy="1371600"/>
          </a:xfrm>
          <a:prstGeom prst="ellipse">
            <a:avLst/>
          </a:prstGeom>
          <a:solidFill>
            <a:srgbClr val="C4A882">
              <a:alpha val="75000"/>
            </a:srgbClr>
          </a:solidFill>
          <a:ln w="12700">
            <a:solidFill>
              <a:srgbClr val="C4A882">
                <a:alpha val="75000"/>
              </a:srgbClr>
            </a:solidFill>
            <a:prstDash val="solid"/>
          </a:ln>
        </p:spPr>
      </p:sp>
      <p:sp>
        <p:nvSpPr>
          <p:cNvPr id="5" name="Shape 3"/>
          <p:cNvSpPr/>
          <p:nvPr/>
        </p:nvSpPr>
        <p:spPr>
          <a:xfrm>
            <a:off x="-731520" y="914400"/>
            <a:ext cx="2011680" cy="2286000"/>
          </a:xfrm>
          <a:prstGeom prst="ellipse">
            <a:avLst/>
          </a:prstGeom>
          <a:solidFill>
            <a:srgbClr val="D9C9B0">
              <a:alpha val="60000"/>
            </a:srgbClr>
          </a:solidFill>
          <a:ln w="12700">
            <a:solidFill>
              <a:srgbClr val="D9C9B0">
                <a:alpha val="60000"/>
              </a:srgbClr>
            </a:solidFill>
            <a:prstDash val="solid"/>
          </a:ln>
        </p:spPr>
      </p:sp>
      <p:sp>
        <p:nvSpPr>
          <p:cNvPr id="6" name="Shape 4"/>
          <p:cNvSpPr/>
          <p:nvPr/>
        </p:nvSpPr>
        <p:spPr>
          <a:xfrm>
            <a:off x="8229600" y="2560320"/>
            <a:ext cx="1371600" cy="1828800"/>
          </a:xfrm>
          <a:prstGeom prst="ellipse">
            <a:avLst/>
          </a:prstGeom>
          <a:solidFill>
            <a:srgbClr val="D9C9B0">
              <a:alpha val="50000"/>
            </a:srgbClr>
          </a:solidFill>
          <a:ln w="12700">
            <a:solidFill>
              <a:srgbClr val="D9C9B0">
                <a:alpha val="50000"/>
              </a:srgbClr>
            </a:solidFill>
            <a:prstDash val="solid"/>
          </a:ln>
        </p:spPr>
      </p:sp>
      <p:sp>
        <p:nvSpPr>
          <p:cNvPr id="8" name="Text 6"/>
          <p:cNvSpPr/>
          <p:nvPr/>
        </p:nvSpPr>
        <p:spPr>
          <a:xfrm>
            <a:off x="137160" y="91440"/>
            <a:ext cx="502920" cy="502920"/>
          </a:xfrm>
          <a:prstGeom prst="rect">
            <a:avLst/>
          </a:prstGeom>
          <a:noFill/>
          <a:ln/>
        </p:spPr>
        <p:txBody>
          <a:bodyPr wrap="square" rtlCol="0" anchor="ctr"/>
          <a:lstStyle/>
          <a:p>
            <a:pPr marL="0" indent="0" algn="ctr">
              <a:buNone/>
            </a:pPr>
            <a:r>
              <a:rPr lang="en-US" sz="800" b="1" dirty="0">
                <a:solidFill>
                  <a:srgbClr val="FFFFFF"/>
                </a:solidFill>
              </a:rPr>
              <a:t>KLH</a:t>
            </a:r>
            <a:endParaRPr lang="en-US" sz="800" dirty="0"/>
          </a:p>
        </p:txBody>
      </p:sp>
      <p:sp>
        <p:nvSpPr>
          <p:cNvPr id="9" name="Text 7"/>
          <p:cNvSpPr/>
          <p:nvPr/>
        </p:nvSpPr>
        <p:spPr>
          <a:xfrm>
            <a:off x="685800" y="73152"/>
            <a:ext cx="1097280" cy="274320"/>
          </a:xfrm>
          <a:prstGeom prst="rect">
            <a:avLst/>
          </a:prstGeom>
          <a:noFill/>
          <a:ln/>
        </p:spPr>
        <p:txBody>
          <a:bodyPr wrap="square" rtlCol="0" anchor="ctr"/>
          <a:lstStyle/>
          <a:p>
            <a:pPr marL="0" indent="0" algn="l">
              <a:buNone/>
            </a:pPr>
            <a:endParaRPr lang="en-US" sz="1300" dirty="0"/>
          </a:p>
        </p:txBody>
      </p:sp>
      <p:sp>
        <p:nvSpPr>
          <p:cNvPr id="10" name="Text 8"/>
          <p:cNvSpPr/>
          <p:nvPr/>
        </p:nvSpPr>
        <p:spPr>
          <a:xfrm>
            <a:off x="685800" y="310896"/>
            <a:ext cx="2286000" cy="182880"/>
          </a:xfrm>
          <a:prstGeom prst="rect">
            <a:avLst/>
          </a:prstGeom>
          <a:noFill/>
          <a:ln/>
        </p:spPr>
        <p:txBody>
          <a:bodyPr wrap="square" rtlCol="0" anchor="ctr"/>
          <a:lstStyle/>
          <a:p>
            <a:pPr marL="0" indent="0" algn="l">
              <a:buNone/>
            </a:pPr>
            <a:endParaRPr lang="en-US" sz="600" dirty="0"/>
          </a:p>
        </p:txBody>
      </p:sp>
      <p:sp>
        <p:nvSpPr>
          <p:cNvPr id="11" name="Text 9"/>
          <p:cNvSpPr/>
          <p:nvPr/>
        </p:nvSpPr>
        <p:spPr>
          <a:xfrm>
            <a:off x="1645920" y="109728"/>
            <a:ext cx="7315200" cy="640080"/>
          </a:xfrm>
          <a:prstGeom prst="rect">
            <a:avLst/>
          </a:prstGeom>
          <a:noFill/>
          <a:ln/>
        </p:spPr>
        <p:txBody>
          <a:bodyPr wrap="square" rtlCol="0" anchor="ctr"/>
          <a:lstStyle/>
          <a:p>
            <a:pPr marL="0" indent="0" algn="l">
              <a:buNone/>
            </a:pPr>
            <a:r>
              <a:rPr lang="en-US" sz="3600" b="1" dirty="0">
                <a:solidFill>
                  <a:srgbClr val="5C4A00"/>
                </a:solidFill>
                <a:latin typeface="Arial Black" pitchFamily="34" charset="0"/>
                <a:ea typeface="Arial Black" pitchFamily="34" charset="-122"/>
                <a:cs typeface="Arial Black" pitchFamily="34" charset="-120"/>
              </a:rPr>
              <a:t>CO'S ATTAINMENTS – DSA</a:t>
            </a:r>
            <a:endParaRPr lang="en-US" sz="3600" dirty="0"/>
          </a:p>
        </p:txBody>
      </p:sp>
      <p:sp>
        <p:nvSpPr>
          <p:cNvPr id="13" name="Text 11"/>
          <p:cNvSpPr/>
          <p:nvPr/>
        </p:nvSpPr>
        <p:spPr>
          <a:xfrm>
            <a:off x="457200" y="914400"/>
            <a:ext cx="6858000" cy="685800"/>
          </a:xfrm>
          <a:prstGeom prst="rect">
            <a:avLst/>
          </a:prstGeom>
          <a:noFill/>
          <a:ln/>
        </p:spPr>
        <p:txBody>
          <a:bodyPr wrap="square" rtlCol="0" anchor="ctr"/>
          <a:lstStyle/>
          <a:p>
            <a:pPr marL="0" indent="0">
              <a:buNone/>
            </a:pPr>
            <a:r>
              <a:rPr lang="en-US" sz="1300" b="1" dirty="0">
                <a:solidFill>
                  <a:srgbClr val="3B3000"/>
                </a:solidFill>
                <a:latin typeface="Calibri" pitchFamily="34" charset="0"/>
                <a:ea typeface="Calibri" pitchFamily="34" charset="-122"/>
                <a:cs typeface="Calibri" pitchFamily="34" charset="-120"/>
              </a:rPr>
              <a:t>CO1: </a:t>
            </a:r>
            <a:r>
              <a:rPr lang="en-US" sz="1300" dirty="0">
                <a:solidFill>
                  <a:srgbClr val="3B3000"/>
                </a:solidFill>
                <a:latin typeface="Calibri" pitchFamily="34" charset="0"/>
                <a:ea typeface="Calibri" pitchFamily="34" charset="-122"/>
                <a:cs typeface="Calibri" pitchFamily="34" charset="-120"/>
              </a:rPr>
              <a:t>Understand and implement the absolute difference algorithm for fuel mismatch calculation in Java.</a:t>
            </a:r>
            <a:endParaRPr lang="en-US" sz="1300" dirty="0"/>
          </a:p>
        </p:txBody>
      </p:sp>
      <p:sp>
        <p:nvSpPr>
          <p:cNvPr id="14" name="Text 12"/>
          <p:cNvSpPr/>
          <p:nvPr/>
        </p:nvSpPr>
        <p:spPr>
          <a:xfrm>
            <a:off x="457200" y="1719072"/>
            <a:ext cx="6858000" cy="685800"/>
          </a:xfrm>
          <a:prstGeom prst="rect">
            <a:avLst/>
          </a:prstGeom>
          <a:noFill/>
          <a:ln/>
        </p:spPr>
        <p:txBody>
          <a:bodyPr wrap="square" rtlCol="0" anchor="ctr"/>
          <a:lstStyle/>
          <a:p>
            <a:pPr marL="0" indent="0">
              <a:buNone/>
            </a:pPr>
            <a:r>
              <a:rPr lang="en-US" sz="1300" b="1" dirty="0">
                <a:solidFill>
                  <a:srgbClr val="3B3000"/>
                </a:solidFill>
                <a:latin typeface="Calibri" pitchFamily="34" charset="0"/>
                <a:ea typeface="Calibri" pitchFamily="34" charset="-122"/>
                <a:cs typeface="Calibri" pitchFamily="34" charset="-120"/>
              </a:rPr>
              <a:t>CO2: </a:t>
            </a:r>
            <a:r>
              <a:rPr lang="en-US" sz="1300" dirty="0">
                <a:solidFill>
                  <a:srgbClr val="3B3000"/>
                </a:solidFill>
                <a:latin typeface="Calibri" pitchFamily="34" charset="0"/>
                <a:ea typeface="Calibri" pitchFamily="34" charset="-122"/>
                <a:cs typeface="Calibri" pitchFamily="34" charset="-120"/>
              </a:rPr>
              <a:t>Apply conditional logic to classify fuel states as FRAUD DETECTED or NORMAL based on threshold comparison.</a:t>
            </a:r>
            <a:endParaRPr lang="en-US" sz="1300" dirty="0"/>
          </a:p>
        </p:txBody>
      </p:sp>
      <p:sp>
        <p:nvSpPr>
          <p:cNvPr id="15" name="Text 13"/>
          <p:cNvSpPr/>
          <p:nvPr/>
        </p:nvSpPr>
        <p:spPr>
          <a:xfrm>
            <a:off x="457200" y="2523744"/>
            <a:ext cx="6858000" cy="685800"/>
          </a:xfrm>
          <a:prstGeom prst="rect">
            <a:avLst/>
          </a:prstGeom>
          <a:noFill/>
          <a:ln/>
        </p:spPr>
        <p:txBody>
          <a:bodyPr wrap="square" rtlCol="0" anchor="ctr"/>
          <a:lstStyle/>
          <a:p>
            <a:pPr marL="0" indent="0">
              <a:buNone/>
            </a:pPr>
            <a:r>
              <a:rPr lang="en-US" sz="1300" b="1" dirty="0">
                <a:solidFill>
                  <a:srgbClr val="3B3000"/>
                </a:solidFill>
                <a:latin typeface="Calibri" pitchFamily="34" charset="0"/>
                <a:ea typeface="Calibri" pitchFamily="34" charset="-122"/>
                <a:cs typeface="Calibri" pitchFamily="34" charset="-120"/>
              </a:rPr>
              <a:t>CO3: </a:t>
            </a:r>
            <a:r>
              <a:rPr lang="en-US" sz="1300" dirty="0">
                <a:solidFill>
                  <a:srgbClr val="3B3000"/>
                </a:solidFill>
                <a:latin typeface="Calibri" pitchFamily="34" charset="0"/>
                <a:ea typeface="Calibri" pitchFamily="34" charset="-122"/>
                <a:cs typeface="Calibri" pitchFamily="34" charset="-120"/>
              </a:rPr>
              <a:t>Demonstrate the use of floating-point arithmetic (Math.abs) and control flow in solving a real-world detection problem.</a:t>
            </a:r>
            <a:endParaRPr lang="en-US" sz="1300" dirty="0"/>
          </a:p>
        </p:txBody>
      </p:sp>
      <p:sp>
        <p:nvSpPr>
          <p:cNvPr id="16" name="Text 14"/>
          <p:cNvSpPr/>
          <p:nvPr/>
        </p:nvSpPr>
        <p:spPr>
          <a:xfrm>
            <a:off x="457200" y="3328416"/>
            <a:ext cx="6858000" cy="685800"/>
          </a:xfrm>
          <a:prstGeom prst="rect">
            <a:avLst/>
          </a:prstGeom>
          <a:noFill/>
          <a:ln/>
        </p:spPr>
        <p:txBody>
          <a:bodyPr wrap="square" rtlCol="0" anchor="ctr"/>
          <a:lstStyle/>
          <a:p>
            <a:pPr marL="0" indent="0">
              <a:buNone/>
            </a:pPr>
            <a:r>
              <a:rPr lang="en-US" sz="1300" b="1" dirty="0">
                <a:solidFill>
                  <a:srgbClr val="3B3000"/>
                </a:solidFill>
                <a:latin typeface="Calibri" pitchFamily="34" charset="0"/>
                <a:ea typeface="Calibri" pitchFamily="34" charset="-122"/>
                <a:cs typeface="Calibri" pitchFamily="34" charset="-120"/>
              </a:rPr>
              <a:t>CO4: </a:t>
            </a:r>
            <a:r>
              <a:rPr lang="en-US" sz="1300" dirty="0">
                <a:solidFill>
                  <a:srgbClr val="3B3000"/>
                </a:solidFill>
                <a:latin typeface="Calibri" pitchFamily="34" charset="0"/>
                <a:ea typeface="Calibri" pitchFamily="34" charset="-122"/>
                <a:cs typeface="Calibri" pitchFamily="34" charset="-120"/>
              </a:rPr>
              <a:t>Design a step-by-step algorithm for fraud detection, tested with real sensor value scenarios.</a:t>
            </a:r>
            <a:endParaRPr lang="en-US" sz="1300" dirty="0"/>
          </a:p>
        </p:txBody>
      </p:sp>
      <p:sp>
        <p:nvSpPr>
          <p:cNvPr id="17" name="Text 15"/>
          <p:cNvSpPr/>
          <p:nvPr/>
        </p:nvSpPr>
        <p:spPr>
          <a:xfrm>
            <a:off x="457200" y="4133088"/>
            <a:ext cx="6858000" cy="685800"/>
          </a:xfrm>
          <a:prstGeom prst="rect">
            <a:avLst/>
          </a:prstGeom>
          <a:noFill/>
          <a:ln/>
        </p:spPr>
        <p:txBody>
          <a:bodyPr wrap="square" rtlCol="0" anchor="ctr"/>
          <a:lstStyle/>
          <a:p>
            <a:pPr marL="0" indent="0">
              <a:buNone/>
            </a:pPr>
            <a:r>
              <a:rPr lang="en-US" sz="1300" b="1" dirty="0">
                <a:solidFill>
                  <a:srgbClr val="3B3000"/>
                </a:solidFill>
                <a:latin typeface="Calibri" pitchFamily="34" charset="0"/>
                <a:ea typeface="Calibri" pitchFamily="34" charset="-122"/>
                <a:cs typeface="Calibri" pitchFamily="34" charset="-120"/>
              </a:rPr>
              <a:t>CO5: </a:t>
            </a:r>
            <a:r>
              <a:rPr lang="en-US" sz="1300" dirty="0">
                <a:solidFill>
                  <a:srgbClr val="3B3000"/>
                </a:solidFill>
                <a:latin typeface="Calibri" pitchFamily="34" charset="0"/>
                <a:ea typeface="Calibri" pitchFamily="34" charset="-122"/>
                <a:cs typeface="Calibri" pitchFamily="34" charset="-120"/>
              </a:rPr>
              <a:t>Implement and run the Java fraud detection program with sample data to validate the algorithm output.</a:t>
            </a:r>
            <a:endParaRPr lang="en-US" sz="1300" dirty="0"/>
          </a:p>
        </p:txBody>
      </p:sp>
      <p:pic>
        <p:nvPicPr>
          <p:cNvPr id="18" name="Picture 2" descr="Registration - Best Private University in Telangana &amp; Andhra Pradesh | KLH  Hyderabad"/>
          <p:cNvPicPr>
            <a:picLocks noChangeAspect="1" noChangeArrowheads="1"/>
          </p:cNvPicPr>
          <p:nvPr/>
        </p:nvPicPr>
        <p:blipFill>
          <a:blip r:embed="rId3"/>
          <a:srcRect/>
          <a:stretch>
            <a:fillRect/>
          </a:stretch>
        </p:blipFill>
        <p:spPr bwMode="auto">
          <a:xfrm>
            <a:off x="123113" y="73153"/>
            <a:ext cx="1529079" cy="655319"/>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EDE6"/>
        </a:solidFill>
        <a:effectLst/>
      </p:bgPr>
    </p:bg>
    <p:spTree>
      <p:nvGrpSpPr>
        <p:cNvPr id="1" name=""/>
        <p:cNvGrpSpPr/>
        <p:nvPr/>
      </p:nvGrpSpPr>
      <p:grpSpPr>
        <a:xfrm>
          <a:off x="0" y="0"/>
          <a:ext cx="0" cy="0"/>
          <a:chOff x="0" y="0"/>
          <a:chExt cx="0" cy="0"/>
        </a:xfrm>
      </p:grpSpPr>
      <p:sp>
        <p:nvSpPr>
          <p:cNvPr id="2" name="Shape 0"/>
          <p:cNvSpPr/>
          <p:nvPr/>
        </p:nvSpPr>
        <p:spPr>
          <a:xfrm>
            <a:off x="8046720" y="-457200"/>
            <a:ext cx="1463040" cy="1463040"/>
          </a:xfrm>
          <a:prstGeom prst="ellipse">
            <a:avLst/>
          </a:prstGeom>
          <a:solidFill>
            <a:srgbClr val="C4A882">
              <a:alpha val="80000"/>
            </a:srgbClr>
          </a:solidFill>
          <a:ln w="12700">
            <a:solidFill>
              <a:srgbClr val="C4A882">
                <a:alpha val="80000"/>
              </a:srgbClr>
            </a:solidFill>
            <a:prstDash val="solid"/>
          </a:ln>
        </p:spPr>
      </p:sp>
      <p:sp>
        <p:nvSpPr>
          <p:cNvPr id="3" name="Shape 1"/>
          <p:cNvSpPr/>
          <p:nvPr/>
        </p:nvSpPr>
        <p:spPr>
          <a:xfrm>
            <a:off x="-457200" y="3840480"/>
            <a:ext cx="1828800" cy="1645920"/>
          </a:xfrm>
          <a:prstGeom prst="ellipse">
            <a:avLst/>
          </a:prstGeom>
          <a:solidFill>
            <a:srgbClr val="D9C9B0">
              <a:alpha val="70000"/>
            </a:srgbClr>
          </a:solidFill>
          <a:ln w="12700">
            <a:solidFill>
              <a:srgbClr val="D9C9B0">
                <a:alpha val="70000"/>
              </a:srgbClr>
            </a:solidFill>
            <a:prstDash val="solid"/>
          </a:ln>
        </p:spPr>
      </p:sp>
      <p:sp>
        <p:nvSpPr>
          <p:cNvPr id="4" name="Shape 2"/>
          <p:cNvSpPr/>
          <p:nvPr/>
        </p:nvSpPr>
        <p:spPr>
          <a:xfrm>
            <a:off x="7772400" y="4114800"/>
            <a:ext cx="1645920" cy="1371600"/>
          </a:xfrm>
          <a:prstGeom prst="ellipse">
            <a:avLst/>
          </a:prstGeom>
          <a:solidFill>
            <a:srgbClr val="C4A882">
              <a:alpha val="75000"/>
            </a:srgbClr>
          </a:solidFill>
          <a:ln w="12700">
            <a:solidFill>
              <a:srgbClr val="C4A882">
                <a:alpha val="75000"/>
              </a:srgbClr>
            </a:solidFill>
            <a:prstDash val="solid"/>
          </a:ln>
        </p:spPr>
      </p:sp>
      <p:sp>
        <p:nvSpPr>
          <p:cNvPr id="5" name="Shape 3"/>
          <p:cNvSpPr/>
          <p:nvPr/>
        </p:nvSpPr>
        <p:spPr>
          <a:xfrm>
            <a:off x="-731520" y="914400"/>
            <a:ext cx="2011680" cy="2286000"/>
          </a:xfrm>
          <a:prstGeom prst="ellipse">
            <a:avLst/>
          </a:prstGeom>
          <a:solidFill>
            <a:srgbClr val="D9C9B0">
              <a:alpha val="60000"/>
            </a:srgbClr>
          </a:solidFill>
          <a:ln w="12700">
            <a:solidFill>
              <a:srgbClr val="D9C9B0">
                <a:alpha val="60000"/>
              </a:srgbClr>
            </a:solidFill>
            <a:prstDash val="solid"/>
          </a:ln>
        </p:spPr>
      </p:sp>
      <p:sp>
        <p:nvSpPr>
          <p:cNvPr id="6" name="Shape 4"/>
          <p:cNvSpPr/>
          <p:nvPr/>
        </p:nvSpPr>
        <p:spPr>
          <a:xfrm>
            <a:off x="8229600" y="2560320"/>
            <a:ext cx="1371600" cy="1828800"/>
          </a:xfrm>
          <a:prstGeom prst="ellipse">
            <a:avLst/>
          </a:prstGeom>
          <a:solidFill>
            <a:srgbClr val="D9C9B0">
              <a:alpha val="50000"/>
            </a:srgbClr>
          </a:solidFill>
          <a:ln w="12700">
            <a:solidFill>
              <a:srgbClr val="D9C9B0">
                <a:alpha val="50000"/>
              </a:srgbClr>
            </a:solidFill>
            <a:prstDash val="solid"/>
          </a:ln>
        </p:spPr>
      </p:sp>
      <p:sp>
        <p:nvSpPr>
          <p:cNvPr id="8" name="Text 6"/>
          <p:cNvSpPr/>
          <p:nvPr/>
        </p:nvSpPr>
        <p:spPr>
          <a:xfrm>
            <a:off x="137160" y="91440"/>
            <a:ext cx="502920" cy="502920"/>
          </a:xfrm>
          <a:prstGeom prst="rect">
            <a:avLst/>
          </a:prstGeom>
          <a:noFill/>
          <a:ln/>
        </p:spPr>
        <p:txBody>
          <a:bodyPr wrap="square" rtlCol="0" anchor="ctr"/>
          <a:lstStyle/>
          <a:p>
            <a:pPr marL="0" indent="0" algn="ctr">
              <a:buNone/>
            </a:pPr>
            <a:r>
              <a:rPr lang="en-US" sz="800" b="1" dirty="0">
                <a:solidFill>
                  <a:srgbClr val="FFFFFF"/>
                </a:solidFill>
              </a:rPr>
              <a:t>KLH</a:t>
            </a:r>
            <a:endParaRPr lang="en-US" sz="800" dirty="0"/>
          </a:p>
        </p:txBody>
      </p:sp>
      <p:sp>
        <p:nvSpPr>
          <p:cNvPr id="9" name="Text 7"/>
          <p:cNvSpPr/>
          <p:nvPr/>
        </p:nvSpPr>
        <p:spPr>
          <a:xfrm>
            <a:off x="685800" y="73152"/>
            <a:ext cx="1097280" cy="274320"/>
          </a:xfrm>
          <a:prstGeom prst="rect">
            <a:avLst/>
          </a:prstGeom>
          <a:noFill/>
          <a:ln/>
        </p:spPr>
        <p:txBody>
          <a:bodyPr wrap="square" rtlCol="0" anchor="ctr"/>
          <a:lstStyle/>
          <a:p>
            <a:pPr marL="0" indent="0" algn="l">
              <a:buNone/>
            </a:pPr>
            <a:endParaRPr lang="en-US" sz="1300" dirty="0"/>
          </a:p>
        </p:txBody>
      </p:sp>
      <p:sp>
        <p:nvSpPr>
          <p:cNvPr id="10" name="Text 8"/>
          <p:cNvSpPr/>
          <p:nvPr/>
        </p:nvSpPr>
        <p:spPr>
          <a:xfrm>
            <a:off x="685800" y="310896"/>
            <a:ext cx="2286000" cy="182880"/>
          </a:xfrm>
          <a:prstGeom prst="rect">
            <a:avLst/>
          </a:prstGeom>
          <a:noFill/>
          <a:ln/>
        </p:spPr>
        <p:txBody>
          <a:bodyPr wrap="square" rtlCol="0" anchor="ctr"/>
          <a:lstStyle/>
          <a:p>
            <a:pPr marL="0" indent="0" algn="l">
              <a:buNone/>
            </a:pPr>
            <a:endParaRPr lang="en-US" sz="600" dirty="0"/>
          </a:p>
        </p:txBody>
      </p:sp>
      <p:sp>
        <p:nvSpPr>
          <p:cNvPr id="11" name="Text 9"/>
          <p:cNvSpPr/>
          <p:nvPr/>
        </p:nvSpPr>
        <p:spPr>
          <a:xfrm>
            <a:off x="1645920" y="109728"/>
            <a:ext cx="7315200" cy="594360"/>
          </a:xfrm>
          <a:prstGeom prst="rect">
            <a:avLst/>
          </a:prstGeom>
          <a:noFill/>
          <a:ln/>
        </p:spPr>
        <p:txBody>
          <a:bodyPr wrap="square" rtlCol="0" anchor="ctr"/>
          <a:lstStyle/>
          <a:p>
            <a:pPr marL="0" indent="0" algn="l">
              <a:buNone/>
            </a:pPr>
            <a:r>
              <a:rPr lang="en-US" sz="3200" b="1" dirty="0">
                <a:solidFill>
                  <a:srgbClr val="5C4A00"/>
                </a:solidFill>
                <a:latin typeface="Arial Black" pitchFamily="34" charset="0"/>
                <a:ea typeface="Arial Black" pitchFamily="34" charset="-122"/>
                <a:cs typeface="Arial Black" pitchFamily="34" charset="-120"/>
              </a:rPr>
              <a:t>SCREEN-SHOTS OF FWD &amp; DSA</a:t>
            </a:r>
            <a:endParaRPr lang="en-US" sz="3200" dirty="0"/>
          </a:p>
        </p:txBody>
      </p:sp>
      <p:sp>
        <p:nvSpPr>
          <p:cNvPr id="12" name="Shape 10"/>
          <p:cNvSpPr/>
          <p:nvPr/>
        </p:nvSpPr>
        <p:spPr>
          <a:xfrm>
            <a:off x="182880" y="914400"/>
            <a:ext cx="2743200" cy="3474720"/>
          </a:xfrm>
          <a:prstGeom prst="rect">
            <a:avLst/>
          </a:prstGeom>
          <a:solidFill>
            <a:srgbClr val="FFFFFF">
              <a:alpha val="80000"/>
            </a:srgbClr>
          </a:solidFill>
          <a:ln w="12700">
            <a:solidFill>
              <a:srgbClr val="999999"/>
            </a:solidFill>
            <a:prstDash val="solid"/>
          </a:ln>
        </p:spPr>
      </p:sp>
      <p:sp>
        <p:nvSpPr>
          <p:cNvPr id="13" name="Text 11"/>
          <p:cNvSpPr/>
          <p:nvPr/>
        </p:nvSpPr>
        <p:spPr>
          <a:xfrm>
            <a:off x="91440" y="4777740"/>
            <a:ext cx="2743200" cy="274320"/>
          </a:xfrm>
          <a:prstGeom prst="rect">
            <a:avLst/>
          </a:prstGeom>
          <a:noFill/>
          <a:ln/>
        </p:spPr>
        <p:txBody>
          <a:bodyPr wrap="square" rtlCol="0" anchor="ctr"/>
          <a:lstStyle/>
          <a:p>
            <a:pPr marL="0" indent="0" algn="ctr">
              <a:buNone/>
            </a:pPr>
            <a:r>
              <a:rPr lang="en-US" sz="1000" dirty="0">
                <a:solidFill>
                  <a:srgbClr val="3B3000"/>
                </a:solidFill>
                <a:latin typeface="Calibri" pitchFamily="34" charset="0"/>
                <a:ea typeface="Calibri" pitchFamily="34" charset="-122"/>
                <a:cs typeface="Calibri" pitchFamily="34" charset="-120"/>
              </a:rPr>
              <a:t>Dashboard – Normal State</a:t>
            </a:r>
            <a:endParaRPr lang="en-US" sz="1000" dirty="0"/>
          </a:p>
        </p:txBody>
      </p:sp>
      <p:sp>
        <p:nvSpPr>
          <p:cNvPr id="14" name="Text 12"/>
          <p:cNvSpPr/>
          <p:nvPr/>
        </p:nvSpPr>
        <p:spPr>
          <a:xfrm>
            <a:off x="182880" y="2103120"/>
            <a:ext cx="2743200" cy="457200"/>
          </a:xfrm>
          <a:prstGeom prst="rect">
            <a:avLst/>
          </a:prstGeom>
          <a:noFill/>
          <a:ln/>
        </p:spPr>
        <p:txBody>
          <a:bodyPr wrap="square" rtlCol="0" anchor="ctr"/>
          <a:lstStyle/>
          <a:p>
            <a:pPr marL="0" indent="0" algn="ctr">
              <a:buNone/>
            </a:pPr>
            <a:r>
              <a:rPr lang="en-US" sz="1100" i="1" dirty="0">
                <a:solidFill>
                  <a:srgbClr val="AAAAAA"/>
                </a:solidFill>
              </a:rPr>
              <a:t>[Add Screenshot Here]</a:t>
            </a:r>
            <a:endParaRPr lang="en-US" sz="1100" dirty="0"/>
          </a:p>
        </p:txBody>
      </p:sp>
      <p:sp>
        <p:nvSpPr>
          <p:cNvPr id="15" name="Shape 13"/>
          <p:cNvSpPr/>
          <p:nvPr/>
        </p:nvSpPr>
        <p:spPr>
          <a:xfrm>
            <a:off x="3154680" y="914400"/>
            <a:ext cx="2743200" cy="3474720"/>
          </a:xfrm>
          <a:prstGeom prst="rect">
            <a:avLst/>
          </a:prstGeom>
          <a:solidFill>
            <a:srgbClr val="FFFFFF">
              <a:alpha val="80000"/>
            </a:srgbClr>
          </a:solidFill>
          <a:ln w="12700">
            <a:solidFill>
              <a:srgbClr val="999999"/>
            </a:solidFill>
            <a:prstDash val="solid"/>
          </a:ln>
        </p:spPr>
      </p:sp>
      <p:sp>
        <p:nvSpPr>
          <p:cNvPr id="16" name="Text 14"/>
          <p:cNvSpPr/>
          <p:nvPr/>
        </p:nvSpPr>
        <p:spPr>
          <a:xfrm>
            <a:off x="3165716" y="4759452"/>
            <a:ext cx="2743200" cy="274320"/>
          </a:xfrm>
          <a:prstGeom prst="rect">
            <a:avLst/>
          </a:prstGeom>
          <a:noFill/>
          <a:ln/>
        </p:spPr>
        <p:txBody>
          <a:bodyPr wrap="square" rtlCol="0" anchor="ctr"/>
          <a:lstStyle/>
          <a:p>
            <a:pPr marL="0" indent="0" algn="ctr">
              <a:buNone/>
            </a:pPr>
            <a:r>
              <a:rPr lang="en-US" sz="1000" dirty="0">
                <a:solidFill>
                  <a:srgbClr val="3B3000"/>
                </a:solidFill>
                <a:latin typeface="Calibri" pitchFamily="34" charset="0"/>
                <a:ea typeface="Calibri" pitchFamily="34" charset="-122"/>
                <a:cs typeface="Calibri" pitchFamily="34" charset="-120"/>
              </a:rPr>
              <a:t>Dashboard – Fraud Detected</a:t>
            </a:r>
            <a:endParaRPr lang="en-US" sz="1000" dirty="0"/>
          </a:p>
        </p:txBody>
      </p:sp>
      <p:sp>
        <p:nvSpPr>
          <p:cNvPr id="17" name="Text 15"/>
          <p:cNvSpPr/>
          <p:nvPr/>
        </p:nvSpPr>
        <p:spPr>
          <a:xfrm>
            <a:off x="3154680" y="2103120"/>
            <a:ext cx="2743200" cy="457200"/>
          </a:xfrm>
          <a:prstGeom prst="rect">
            <a:avLst/>
          </a:prstGeom>
          <a:noFill/>
          <a:ln/>
        </p:spPr>
        <p:txBody>
          <a:bodyPr wrap="square" rtlCol="0" anchor="ctr"/>
          <a:lstStyle/>
          <a:p>
            <a:pPr marL="0" indent="0" algn="ctr">
              <a:buNone/>
            </a:pPr>
            <a:r>
              <a:rPr lang="en-US" sz="1100" i="1" dirty="0">
                <a:solidFill>
                  <a:srgbClr val="AAAAAA"/>
                </a:solidFill>
              </a:rPr>
              <a:t>[Add Screenshot Here]</a:t>
            </a:r>
            <a:endParaRPr lang="en-US" sz="1100" dirty="0"/>
          </a:p>
        </p:txBody>
      </p:sp>
      <p:sp>
        <p:nvSpPr>
          <p:cNvPr id="18" name="Shape 16"/>
          <p:cNvSpPr/>
          <p:nvPr/>
        </p:nvSpPr>
        <p:spPr>
          <a:xfrm>
            <a:off x="6126480" y="914400"/>
            <a:ext cx="2743200" cy="3474720"/>
          </a:xfrm>
          <a:prstGeom prst="rect">
            <a:avLst/>
          </a:prstGeom>
          <a:solidFill>
            <a:srgbClr val="FFFFFF">
              <a:alpha val="80000"/>
            </a:srgbClr>
          </a:solidFill>
          <a:ln w="12700">
            <a:solidFill>
              <a:srgbClr val="999999"/>
            </a:solidFill>
            <a:prstDash val="solid"/>
          </a:ln>
        </p:spPr>
      </p:sp>
      <p:sp>
        <p:nvSpPr>
          <p:cNvPr id="19" name="Text 17"/>
          <p:cNvSpPr/>
          <p:nvPr/>
        </p:nvSpPr>
        <p:spPr>
          <a:xfrm>
            <a:off x="6172200" y="4726502"/>
            <a:ext cx="2743200" cy="274320"/>
          </a:xfrm>
          <a:prstGeom prst="rect">
            <a:avLst/>
          </a:prstGeom>
          <a:noFill/>
          <a:ln/>
        </p:spPr>
        <p:txBody>
          <a:bodyPr wrap="square" rtlCol="0" anchor="ctr"/>
          <a:lstStyle/>
          <a:p>
            <a:pPr marL="0" indent="0" algn="ctr">
              <a:buNone/>
            </a:pPr>
            <a:r>
              <a:rPr lang="en-US" sz="1000" dirty="0">
                <a:solidFill>
                  <a:srgbClr val="3B3000"/>
                </a:solidFill>
                <a:latin typeface="Calibri" pitchFamily="34" charset="0"/>
                <a:ea typeface="Calibri" pitchFamily="34" charset="-122"/>
                <a:cs typeface="Calibri" pitchFamily="34" charset="-120"/>
              </a:rPr>
              <a:t>Java DSA Output</a:t>
            </a:r>
            <a:endParaRPr lang="en-US" sz="1000" dirty="0"/>
          </a:p>
        </p:txBody>
      </p:sp>
      <p:sp>
        <p:nvSpPr>
          <p:cNvPr id="20" name="Text 18"/>
          <p:cNvSpPr/>
          <p:nvPr/>
        </p:nvSpPr>
        <p:spPr>
          <a:xfrm>
            <a:off x="6126480" y="2103120"/>
            <a:ext cx="2743200" cy="457200"/>
          </a:xfrm>
          <a:prstGeom prst="rect">
            <a:avLst/>
          </a:prstGeom>
          <a:noFill/>
          <a:ln/>
        </p:spPr>
        <p:txBody>
          <a:bodyPr wrap="square" rtlCol="0" anchor="ctr"/>
          <a:lstStyle/>
          <a:p>
            <a:pPr marL="0" indent="0" algn="ctr">
              <a:buNone/>
            </a:pPr>
            <a:r>
              <a:rPr lang="en-US" sz="1100" i="1" dirty="0">
                <a:solidFill>
                  <a:srgbClr val="AAAAAA"/>
                </a:solidFill>
              </a:rPr>
              <a:t>[Add Screenshot Here]</a:t>
            </a:r>
            <a:endParaRPr lang="en-US" sz="1100" dirty="0"/>
          </a:p>
        </p:txBody>
      </p:sp>
      <p:pic>
        <p:nvPicPr>
          <p:cNvPr id="24" name="Picture 23">
            <a:extLst>
              <a:ext uri="{FF2B5EF4-FFF2-40B4-BE49-F238E27FC236}">
                <a16:creationId xmlns:a16="http://schemas.microsoft.com/office/drawing/2014/main" id="{3EEB7866-53D7-484D-B087-C619FF43D92E}"/>
              </a:ext>
            </a:extLst>
          </p:cNvPr>
          <p:cNvPicPr>
            <a:picLocks noChangeAspect="1"/>
          </p:cNvPicPr>
          <p:nvPr/>
        </p:nvPicPr>
        <p:blipFill>
          <a:blip r:embed="rId3"/>
          <a:stretch>
            <a:fillRect/>
          </a:stretch>
        </p:blipFill>
        <p:spPr>
          <a:xfrm>
            <a:off x="-309004" y="914400"/>
            <a:ext cx="3326524" cy="3794760"/>
          </a:xfrm>
          <a:prstGeom prst="rect">
            <a:avLst/>
          </a:prstGeom>
        </p:spPr>
      </p:pic>
      <p:pic>
        <p:nvPicPr>
          <p:cNvPr id="28" name="Picture 27">
            <a:extLst>
              <a:ext uri="{FF2B5EF4-FFF2-40B4-BE49-F238E27FC236}">
                <a16:creationId xmlns:a16="http://schemas.microsoft.com/office/drawing/2014/main" id="{84BB0FFF-B758-4781-A017-E1FB35D3569E}"/>
              </a:ext>
            </a:extLst>
          </p:cNvPr>
          <p:cNvPicPr>
            <a:picLocks noChangeAspect="1"/>
          </p:cNvPicPr>
          <p:nvPr/>
        </p:nvPicPr>
        <p:blipFill>
          <a:blip r:embed="rId4"/>
          <a:stretch>
            <a:fillRect/>
          </a:stretch>
        </p:blipFill>
        <p:spPr>
          <a:xfrm>
            <a:off x="6126480" y="626521"/>
            <a:ext cx="3389587" cy="4082639"/>
          </a:xfrm>
          <a:prstGeom prst="rect">
            <a:avLst/>
          </a:prstGeom>
        </p:spPr>
      </p:pic>
      <p:pic>
        <p:nvPicPr>
          <p:cNvPr id="30" name="Picture 29">
            <a:extLst>
              <a:ext uri="{FF2B5EF4-FFF2-40B4-BE49-F238E27FC236}">
                <a16:creationId xmlns:a16="http://schemas.microsoft.com/office/drawing/2014/main" id="{D5AE738A-DF0E-45FC-A542-A4A042B2968D}"/>
              </a:ext>
            </a:extLst>
          </p:cNvPr>
          <p:cNvPicPr>
            <a:picLocks noChangeAspect="1"/>
          </p:cNvPicPr>
          <p:nvPr/>
        </p:nvPicPr>
        <p:blipFill>
          <a:blip r:embed="rId5"/>
          <a:stretch>
            <a:fillRect/>
          </a:stretch>
        </p:blipFill>
        <p:spPr>
          <a:xfrm>
            <a:off x="3108961" y="704088"/>
            <a:ext cx="2880360" cy="3949893"/>
          </a:xfrm>
          <a:prstGeom prst="rect">
            <a:avLst/>
          </a:prstGeom>
        </p:spPr>
      </p:pic>
      <p:pic>
        <p:nvPicPr>
          <p:cNvPr id="25" name="Picture 2" descr="Registration - Best Private University in Telangana &amp; Andhra Pradesh | KLH  Hyderabad"/>
          <p:cNvPicPr>
            <a:picLocks noChangeAspect="1" noChangeArrowheads="1"/>
          </p:cNvPicPr>
          <p:nvPr/>
        </p:nvPicPr>
        <p:blipFill>
          <a:blip r:embed="rId6"/>
          <a:srcRect/>
          <a:stretch>
            <a:fillRect/>
          </a:stretch>
        </p:blipFill>
        <p:spPr bwMode="auto">
          <a:xfrm>
            <a:off x="123113" y="73153"/>
            <a:ext cx="1529079" cy="655319"/>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EDE6"/>
        </a:solidFill>
        <a:effectLst/>
      </p:bgPr>
    </p:bg>
    <p:spTree>
      <p:nvGrpSpPr>
        <p:cNvPr id="1" name=""/>
        <p:cNvGrpSpPr/>
        <p:nvPr/>
      </p:nvGrpSpPr>
      <p:grpSpPr>
        <a:xfrm>
          <a:off x="0" y="0"/>
          <a:ext cx="0" cy="0"/>
          <a:chOff x="0" y="0"/>
          <a:chExt cx="0" cy="0"/>
        </a:xfrm>
      </p:grpSpPr>
      <p:sp>
        <p:nvSpPr>
          <p:cNvPr id="2" name="Shape 0"/>
          <p:cNvSpPr/>
          <p:nvPr/>
        </p:nvSpPr>
        <p:spPr>
          <a:xfrm>
            <a:off x="8046720" y="-457200"/>
            <a:ext cx="1463040" cy="1463040"/>
          </a:xfrm>
          <a:prstGeom prst="ellipse">
            <a:avLst/>
          </a:prstGeom>
          <a:solidFill>
            <a:srgbClr val="C4A882">
              <a:alpha val="80000"/>
            </a:srgbClr>
          </a:solidFill>
          <a:ln w="12700">
            <a:solidFill>
              <a:srgbClr val="C4A882">
                <a:alpha val="80000"/>
              </a:srgbClr>
            </a:solidFill>
            <a:prstDash val="solid"/>
          </a:ln>
        </p:spPr>
      </p:sp>
      <p:sp>
        <p:nvSpPr>
          <p:cNvPr id="3" name="Shape 1"/>
          <p:cNvSpPr/>
          <p:nvPr/>
        </p:nvSpPr>
        <p:spPr>
          <a:xfrm>
            <a:off x="-457200" y="3840480"/>
            <a:ext cx="1828800" cy="1645920"/>
          </a:xfrm>
          <a:prstGeom prst="ellipse">
            <a:avLst/>
          </a:prstGeom>
          <a:solidFill>
            <a:srgbClr val="D9C9B0">
              <a:alpha val="70000"/>
            </a:srgbClr>
          </a:solidFill>
          <a:ln w="12700">
            <a:solidFill>
              <a:srgbClr val="D9C9B0">
                <a:alpha val="70000"/>
              </a:srgbClr>
            </a:solidFill>
            <a:prstDash val="solid"/>
          </a:ln>
        </p:spPr>
      </p:sp>
      <p:sp>
        <p:nvSpPr>
          <p:cNvPr id="4" name="Shape 2"/>
          <p:cNvSpPr/>
          <p:nvPr/>
        </p:nvSpPr>
        <p:spPr>
          <a:xfrm>
            <a:off x="7772400" y="4114800"/>
            <a:ext cx="1645920" cy="1371600"/>
          </a:xfrm>
          <a:prstGeom prst="ellipse">
            <a:avLst/>
          </a:prstGeom>
          <a:solidFill>
            <a:srgbClr val="C4A882">
              <a:alpha val="75000"/>
            </a:srgbClr>
          </a:solidFill>
          <a:ln w="12700">
            <a:solidFill>
              <a:srgbClr val="C4A882">
                <a:alpha val="75000"/>
              </a:srgbClr>
            </a:solidFill>
            <a:prstDash val="solid"/>
          </a:ln>
        </p:spPr>
      </p:sp>
      <p:sp>
        <p:nvSpPr>
          <p:cNvPr id="5" name="Shape 3"/>
          <p:cNvSpPr/>
          <p:nvPr/>
        </p:nvSpPr>
        <p:spPr>
          <a:xfrm>
            <a:off x="-731520" y="914400"/>
            <a:ext cx="2011680" cy="2286000"/>
          </a:xfrm>
          <a:prstGeom prst="ellipse">
            <a:avLst/>
          </a:prstGeom>
          <a:solidFill>
            <a:srgbClr val="D9C9B0">
              <a:alpha val="60000"/>
            </a:srgbClr>
          </a:solidFill>
          <a:ln w="12700">
            <a:solidFill>
              <a:srgbClr val="D9C9B0">
                <a:alpha val="60000"/>
              </a:srgbClr>
            </a:solidFill>
            <a:prstDash val="solid"/>
          </a:ln>
        </p:spPr>
      </p:sp>
      <p:sp>
        <p:nvSpPr>
          <p:cNvPr id="6" name="Shape 4"/>
          <p:cNvSpPr/>
          <p:nvPr/>
        </p:nvSpPr>
        <p:spPr>
          <a:xfrm>
            <a:off x="8229600" y="2560320"/>
            <a:ext cx="1371600" cy="1828800"/>
          </a:xfrm>
          <a:prstGeom prst="ellipse">
            <a:avLst/>
          </a:prstGeom>
          <a:solidFill>
            <a:srgbClr val="D9C9B0">
              <a:alpha val="50000"/>
            </a:srgbClr>
          </a:solidFill>
          <a:ln w="12700">
            <a:solidFill>
              <a:srgbClr val="D9C9B0">
                <a:alpha val="50000"/>
              </a:srgbClr>
            </a:solidFill>
            <a:prstDash val="solid"/>
          </a:ln>
        </p:spPr>
      </p:sp>
      <p:sp>
        <p:nvSpPr>
          <p:cNvPr id="8" name="Text 6"/>
          <p:cNvSpPr/>
          <p:nvPr/>
        </p:nvSpPr>
        <p:spPr>
          <a:xfrm>
            <a:off x="137160" y="91440"/>
            <a:ext cx="502920" cy="502920"/>
          </a:xfrm>
          <a:prstGeom prst="rect">
            <a:avLst/>
          </a:prstGeom>
          <a:noFill/>
          <a:ln/>
        </p:spPr>
        <p:txBody>
          <a:bodyPr wrap="square" rtlCol="0" anchor="ctr"/>
          <a:lstStyle/>
          <a:p>
            <a:pPr marL="0" indent="0" algn="ctr">
              <a:buNone/>
            </a:pPr>
            <a:r>
              <a:rPr lang="en-US" sz="800" b="1" dirty="0">
                <a:solidFill>
                  <a:srgbClr val="FFFFFF"/>
                </a:solidFill>
              </a:rPr>
              <a:t>KLH</a:t>
            </a:r>
            <a:endParaRPr lang="en-US" sz="800" dirty="0"/>
          </a:p>
        </p:txBody>
      </p:sp>
      <p:sp>
        <p:nvSpPr>
          <p:cNvPr id="9" name="Text 7"/>
          <p:cNvSpPr/>
          <p:nvPr/>
        </p:nvSpPr>
        <p:spPr>
          <a:xfrm>
            <a:off x="640080" y="109728"/>
            <a:ext cx="1097280" cy="274320"/>
          </a:xfrm>
          <a:prstGeom prst="rect">
            <a:avLst/>
          </a:prstGeom>
          <a:noFill/>
          <a:ln/>
        </p:spPr>
        <p:txBody>
          <a:bodyPr wrap="square" rtlCol="0" anchor="ctr"/>
          <a:lstStyle/>
          <a:p>
            <a:pPr marL="0" indent="0" algn="l">
              <a:buNone/>
            </a:pPr>
            <a:endParaRPr lang="en-US" sz="1300" dirty="0"/>
          </a:p>
        </p:txBody>
      </p:sp>
      <p:sp>
        <p:nvSpPr>
          <p:cNvPr id="10" name="Text 8"/>
          <p:cNvSpPr/>
          <p:nvPr/>
        </p:nvSpPr>
        <p:spPr>
          <a:xfrm>
            <a:off x="685800" y="310896"/>
            <a:ext cx="2286000" cy="182880"/>
          </a:xfrm>
          <a:prstGeom prst="rect">
            <a:avLst/>
          </a:prstGeom>
          <a:noFill/>
          <a:ln/>
        </p:spPr>
        <p:txBody>
          <a:bodyPr wrap="square" rtlCol="0" anchor="ctr"/>
          <a:lstStyle/>
          <a:p>
            <a:pPr marL="0" indent="0" algn="l">
              <a:buNone/>
            </a:pPr>
            <a:endParaRPr lang="en-US" sz="600" dirty="0"/>
          </a:p>
        </p:txBody>
      </p:sp>
      <p:sp>
        <p:nvSpPr>
          <p:cNvPr id="11" name="Text 9"/>
          <p:cNvSpPr/>
          <p:nvPr/>
        </p:nvSpPr>
        <p:spPr>
          <a:xfrm>
            <a:off x="1645920" y="109728"/>
            <a:ext cx="7315200" cy="594360"/>
          </a:xfrm>
          <a:prstGeom prst="rect">
            <a:avLst/>
          </a:prstGeom>
          <a:noFill/>
          <a:ln/>
        </p:spPr>
        <p:txBody>
          <a:bodyPr wrap="square" rtlCol="0" anchor="ctr"/>
          <a:lstStyle/>
          <a:p>
            <a:pPr marL="0" indent="0" algn="l">
              <a:buNone/>
            </a:pPr>
            <a:r>
              <a:rPr lang="en-US" sz="4400" b="1" dirty="0">
                <a:solidFill>
                  <a:srgbClr val="5C4A00"/>
                </a:solidFill>
                <a:latin typeface="Arial Black" pitchFamily="34" charset="0"/>
                <a:ea typeface="Arial Black" pitchFamily="34" charset="-122"/>
                <a:cs typeface="Arial Black" pitchFamily="34" charset="-120"/>
              </a:rPr>
              <a:t>CONCLUSION</a:t>
            </a:r>
            <a:endParaRPr lang="en-US" sz="4400" dirty="0"/>
          </a:p>
        </p:txBody>
      </p:sp>
      <p:sp>
        <p:nvSpPr>
          <p:cNvPr id="12" name="Text 10"/>
          <p:cNvSpPr/>
          <p:nvPr/>
        </p:nvSpPr>
        <p:spPr>
          <a:xfrm>
            <a:off x="548640" y="1368552"/>
            <a:ext cx="8412480" cy="3931920"/>
          </a:xfrm>
          <a:prstGeom prst="rect">
            <a:avLst/>
          </a:prstGeom>
          <a:noFill/>
          <a:ln/>
        </p:spPr>
        <p:txBody>
          <a:bodyPr wrap="square" rtlCol="0" anchor="t"/>
          <a:lstStyle/>
          <a:p>
            <a:pPr marL="0" indent="0" algn="l">
              <a:spcAft>
                <a:spcPts val="1000"/>
              </a:spcAft>
              <a:buNone/>
            </a:pPr>
            <a:r>
              <a:rPr lang="en-US" sz="1400" dirty="0">
                <a:solidFill>
                  <a:srgbClr val="3B3000"/>
                </a:solidFill>
                <a:latin typeface="Calibri" pitchFamily="34" charset="0"/>
                <a:ea typeface="Calibri" pitchFamily="34" charset="-122"/>
                <a:cs typeface="Calibri" pitchFamily="34" charset="-120"/>
              </a:rPr>
              <a:t>The FFPE (Fuel Fraud Pattern Engine) project successfully demonstrates how a real-time web-based system can be built to detect fuel fraud in campus bus fleets. By comparing tank sensor readings, ECU consumption, and expected fuel values, the system achieves accurate fraud detection with a simple threshold-based algorithm.</a:t>
            </a:r>
            <a:endParaRPr lang="en-US" sz="1400" dirty="0"/>
          </a:p>
          <a:p>
            <a:pPr marL="0" indent="0" algn="l">
              <a:spcAft>
                <a:spcPts val="1000"/>
              </a:spcAft>
              <a:buNone/>
            </a:pPr>
            <a:endParaRPr lang="en-US" sz="1400" dirty="0"/>
          </a:p>
          <a:p>
            <a:pPr marL="0" indent="0" algn="l">
              <a:spcAft>
                <a:spcPts val="1000"/>
              </a:spcAft>
              <a:buNone/>
            </a:pPr>
            <a:r>
              <a:rPr lang="en-US" sz="1400" dirty="0">
                <a:solidFill>
                  <a:srgbClr val="3B3000"/>
                </a:solidFill>
                <a:latin typeface="Calibri" pitchFamily="34" charset="0"/>
                <a:ea typeface="Calibri" pitchFamily="34" charset="-122"/>
                <a:cs typeface="Calibri" pitchFamily="34" charset="-120"/>
              </a:rPr>
              <a:t>The project integrates Frontend Web Development (HTML, CSS, JavaScript), Backend Engineering (Python Flask), Telegram Bot API for instant alerting, and a Java-based DSA implementation of the core algorithm. Together, these components form a complete, working solution that reduces manual effort, ensures real-time visibility, and enables rapid incident response. This project effectively demonstrates the use of programming concepts and structured system development to address a practical, real-world transport management problem.</a:t>
            </a:r>
            <a:endParaRPr lang="en-US" sz="1400" dirty="0"/>
          </a:p>
        </p:txBody>
      </p:sp>
      <p:pic>
        <p:nvPicPr>
          <p:cNvPr id="13" name="Picture 2" descr="Registration - Best Private University in Telangana &amp; Andhra Pradesh | KLH  Hyderabad"/>
          <p:cNvPicPr>
            <a:picLocks noChangeAspect="1" noChangeArrowheads="1"/>
          </p:cNvPicPr>
          <p:nvPr/>
        </p:nvPicPr>
        <p:blipFill>
          <a:blip r:embed="rId3"/>
          <a:srcRect/>
          <a:stretch>
            <a:fillRect/>
          </a:stretch>
        </p:blipFill>
        <p:spPr bwMode="auto">
          <a:xfrm>
            <a:off x="123113" y="73153"/>
            <a:ext cx="1529079" cy="655319"/>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EDE6"/>
        </a:solidFill>
        <a:effectLst/>
      </p:bgPr>
    </p:bg>
    <p:spTree>
      <p:nvGrpSpPr>
        <p:cNvPr id="1" name=""/>
        <p:cNvGrpSpPr/>
        <p:nvPr/>
      </p:nvGrpSpPr>
      <p:grpSpPr>
        <a:xfrm>
          <a:off x="0" y="0"/>
          <a:ext cx="0" cy="0"/>
          <a:chOff x="0" y="0"/>
          <a:chExt cx="0" cy="0"/>
        </a:xfrm>
      </p:grpSpPr>
      <p:sp>
        <p:nvSpPr>
          <p:cNvPr id="2" name="Shape 0"/>
          <p:cNvSpPr/>
          <p:nvPr/>
        </p:nvSpPr>
        <p:spPr>
          <a:xfrm>
            <a:off x="8046720" y="-457200"/>
            <a:ext cx="1463040" cy="1463040"/>
          </a:xfrm>
          <a:prstGeom prst="ellipse">
            <a:avLst/>
          </a:prstGeom>
          <a:solidFill>
            <a:srgbClr val="C4A882">
              <a:alpha val="80000"/>
            </a:srgbClr>
          </a:solidFill>
          <a:ln w="12700">
            <a:solidFill>
              <a:srgbClr val="C4A882">
                <a:alpha val="80000"/>
              </a:srgbClr>
            </a:solidFill>
            <a:prstDash val="solid"/>
          </a:ln>
        </p:spPr>
      </p:sp>
      <p:sp>
        <p:nvSpPr>
          <p:cNvPr id="3" name="Shape 1"/>
          <p:cNvSpPr/>
          <p:nvPr/>
        </p:nvSpPr>
        <p:spPr>
          <a:xfrm>
            <a:off x="-457200" y="3840480"/>
            <a:ext cx="1828800" cy="1645920"/>
          </a:xfrm>
          <a:prstGeom prst="ellipse">
            <a:avLst/>
          </a:prstGeom>
          <a:solidFill>
            <a:srgbClr val="D9C9B0">
              <a:alpha val="70000"/>
            </a:srgbClr>
          </a:solidFill>
          <a:ln w="12700">
            <a:solidFill>
              <a:srgbClr val="D9C9B0">
                <a:alpha val="70000"/>
              </a:srgbClr>
            </a:solidFill>
            <a:prstDash val="solid"/>
          </a:ln>
        </p:spPr>
      </p:sp>
      <p:sp>
        <p:nvSpPr>
          <p:cNvPr id="4" name="Shape 2"/>
          <p:cNvSpPr/>
          <p:nvPr/>
        </p:nvSpPr>
        <p:spPr>
          <a:xfrm>
            <a:off x="7772400" y="4114800"/>
            <a:ext cx="1645920" cy="1371600"/>
          </a:xfrm>
          <a:prstGeom prst="ellipse">
            <a:avLst/>
          </a:prstGeom>
          <a:solidFill>
            <a:srgbClr val="C4A882">
              <a:alpha val="75000"/>
            </a:srgbClr>
          </a:solidFill>
          <a:ln w="12700">
            <a:solidFill>
              <a:srgbClr val="C4A882">
                <a:alpha val="75000"/>
              </a:srgbClr>
            </a:solidFill>
            <a:prstDash val="solid"/>
          </a:ln>
        </p:spPr>
      </p:sp>
      <p:sp>
        <p:nvSpPr>
          <p:cNvPr id="5" name="Shape 3"/>
          <p:cNvSpPr/>
          <p:nvPr/>
        </p:nvSpPr>
        <p:spPr>
          <a:xfrm>
            <a:off x="-731520" y="914400"/>
            <a:ext cx="2011680" cy="2286000"/>
          </a:xfrm>
          <a:prstGeom prst="ellipse">
            <a:avLst/>
          </a:prstGeom>
          <a:solidFill>
            <a:srgbClr val="D9C9B0">
              <a:alpha val="60000"/>
            </a:srgbClr>
          </a:solidFill>
          <a:ln w="12700">
            <a:solidFill>
              <a:srgbClr val="D9C9B0">
                <a:alpha val="60000"/>
              </a:srgbClr>
            </a:solidFill>
            <a:prstDash val="solid"/>
          </a:ln>
        </p:spPr>
      </p:sp>
      <p:sp>
        <p:nvSpPr>
          <p:cNvPr id="6" name="Shape 4"/>
          <p:cNvSpPr/>
          <p:nvPr/>
        </p:nvSpPr>
        <p:spPr>
          <a:xfrm>
            <a:off x="8229600" y="2560320"/>
            <a:ext cx="1371600" cy="1828800"/>
          </a:xfrm>
          <a:prstGeom prst="ellipse">
            <a:avLst/>
          </a:prstGeom>
          <a:solidFill>
            <a:srgbClr val="D9C9B0">
              <a:alpha val="50000"/>
            </a:srgbClr>
          </a:solidFill>
          <a:ln w="12700">
            <a:solidFill>
              <a:srgbClr val="D9C9B0">
                <a:alpha val="50000"/>
              </a:srgbClr>
            </a:solidFill>
            <a:prstDash val="solid"/>
          </a:ln>
        </p:spPr>
      </p:sp>
      <p:sp>
        <p:nvSpPr>
          <p:cNvPr id="8" name="Text 6"/>
          <p:cNvSpPr/>
          <p:nvPr/>
        </p:nvSpPr>
        <p:spPr>
          <a:xfrm>
            <a:off x="137160" y="91440"/>
            <a:ext cx="502920" cy="502920"/>
          </a:xfrm>
          <a:prstGeom prst="rect">
            <a:avLst/>
          </a:prstGeom>
          <a:noFill/>
          <a:ln/>
        </p:spPr>
        <p:txBody>
          <a:bodyPr wrap="square" rtlCol="0" anchor="ctr"/>
          <a:lstStyle/>
          <a:p>
            <a:pPr marL="0" indent="0" algn="ctr">
              <a:buNone/>
            </a:pPr>
            <a:r>
              <a:rPr lang="en-US" sz="800" b="1" dirty="0">
                <a:solidFill>
                  <a:srgbClr val="FFFFFF"/>
                </a:solidFill>
              </a:rPr>
              <a:t>KLH</a:t>
            </a:r>
            <a:endParaRPr lang="en-US" sz="800" dirty="0"/>
          </a:p>
        </p:txBody>
      </p:sp>
      <p:sp>
        <p:nvSpPr>
          <p:cNvPr id="9" name="Text 7"/>
          <p:cNvSpPr/>
          <p:nvPr/>
        </p:nvSpPr>
        <p:spPr>
          <a:xfrm>
            <a:off x="685800" y="73152"/>
            <a:ext cx="1097280" cy="274320"/>
          </a:xfrm>
          <a:prstGeom prst="rect">
            <a:avLst/>
          </a:prstGeom>
          <a:noFill/>
          <a:ln/>
        </p:spPr>
        <p:txBody>
          <a:bodyPr wrap="square" rtlCol="0" anchor="ctr"/>
          <a:lstStyle/>
          <a:p>
            <a:pPr marL="0" indent="0" algn="l">
              <a:buNone/>
            </a:pPr>
            <a:endParaRPr lang="en-US" sz="1300" dirty="0"/>
          </a:p>
        </p:txBody>
      </p:sp>
      <p:sp>
        <p:nvSpPr>
          <p:cNvPr id="10" name="Text 8"/>
          <p:cNvSpPr/>
          <p:nvPr/>
        </p:nvSpPr>
        <p:spPr>
          <a:xfrm>
            <a:off x="685800" y="310896"/>
            <a:ext cx="2286000" cy="182880"/>
          </a:xfrm>
          <a:prstGeom prst="rect">
            <a:avLst/>
          </a:prstGeom>
          <a:noFill/>
          <a:ln/>
        </p:spPr>
        <p:txBody>
          <a:bodyPr wrap="square" rtlCol="0" anchor="ctr"/>
          <a:lstStyle/>
          <a:p>
            <a:pPr marL="0" indent="0" algn="l">
              <a:buNone/>
            </a:pPr>
            <a:endParaRPr lang="en-US" sz="600" dirty="0"/>
          </a:p>
        </p:txBody>
      </p:sp>
      <p:sp>
        <p:nvSpPr>
          <p:cNvPr id="11" name="Text 9"/>
          <p:cNvSpPr/>
          <p:nvPr/>
        </p:nvSpPr>
        <p:spPr>
          <a:xfrm>
            <a:off x="3657600" y="109728"/>
            <a:ext cx="5029200" cy="594360"/>
          </a:xfrm>
          <a:prstGeom prst="rect">
            <a:avLst/>
          </a:prstGeom>
          <a:noFill/>
          <a:ln/>
        </p:spPr>
        <p:txBody>
          <a:bodyPr wrap="square" rtlCol="0" anchor="ctr"/>
          <a:lstStyle/>
          <a:p>
            <a:pPr marL="0" indent="0" algn="l">
              <a:buNone/>
            </a:pPr>
            <a:r>
              <a:rPr lang="en-US" sz="4400" b="1" dirty="0">
                <a:solidFill>
                  <a:srgbClr val="5C4A00"/>
                </a:solidFill>
                <a:latin typeface="Arial Black" pitchFamily="34" charset="0"/>
                <a:ea typeface="Arial Black" pitchFamily="34" charset="-122"/>
                <a:cs typeface="Arial Black" pitchFamily="34" charset="-120"/>
              </a:rPr>
              <a:t>GEO-TAG</a:t>
            </a:r>
            <a:endParaRPr lang="en-US" sz="4400" dirty="0"/>
          </a:p>
        </p:txBody>
      </p:sp>
      <p:sp>
        <p:nvSpPr>
          <p:cNvPr id="12" name="Shape 10"/>
          <p:cNvSpPr/>
          <p:nvPr/>
        </p:nvSpPr>
        <p:spPr>
          <a:xfrm>
            <a:off x="2560320" y="822960"/>
            <a:ext cx="4023360" cy="4023360"/>
          </a:xfrm>
          <a:prstGeom prst="rect">
            <a:avLst/>
          </a:prstGeom>
          <a:solidFill>
            <a:srgbClr val="E0D8CC"/>
          </a:solidFill>
          <a:ln w="12700">
            <a:solidFill>
              <a:srgbClr val="AAAAAA"/>
            </a:solidFill>
            <a:prstDash val="solid"/>
          </a:ln>
        </p:spPr>
      </p:sp>
      <p:sp>
        <p:nvSpPr>
          <p:cNvPr id="13" name="Text 11"/>
          <p:cNvSpPr/>
          <p:nvPr/>
        </p:nvSpPr>
        <p:spPr>
          <a:xfrm>
            <a:off x="2560320" y="1828800"/>
            <a:ext cx="4023360" cy="2011680"/>
          </a:xfrm>
          <a:prstGeom prst="rect">
            <a:avLst/>
          </a:prstGeom>
          <a:noFill/>
          <a:ln/>
        </p:spPr>
        <p:txBody>
          <a:bodyPr wrap="square" rtlCol="0" anchor="ctr"/>
          <a:lstStyle/>
          <a:p>
            <a:pPr marL="0" indent="0" algn="ctr">
              <a:buNone/>
            </a:pPr>
            <a:r>
              <a:rPr lang="en-US" sz="1200" i="1" dirty="0">
                <a:solidFill>
                  <a:srgbClr val="777777"/>
                </a:solidFill>
                <a:latin typeface="Calibri" pitchFamily="34" charset="0"/>
                <a:ea typeface="Calibri" pitchFamily="34" charset="-122"/>
                <a:cs typeface="Calibri" pitchFamily="34" charset="-120"/>
              </a:rPr>
              <a:t>[Add Geo-Tagged Photo Here]</a:t>
            </a:r>
            <a:endParaRPr lang="en-US" sz="1200" dirty="0"/>
          </a:p>
          <a:p>
            <a:pPr marL="0" indent="0" algn="ctr">
              <a:buNone/>
            </a:pPr>
            <a:endParaRPr lang="en-US" sz="1200" dirty="0"/>
          </a:p>
          <a:p>
            <a:pPr marL="0" indent="0" algn="ctr">
              <a:buNone/>
            </a:pPr>
            <a:r>
              <a:rPr lang="en-US" sz="1200" i="1" dirty="0">
                <a:solidFill>
                  <a:srgbClr val="777777"/>
                </a:solidFill>
                <a:latin typeface="Calibri" pitchFamily="34" charset="0"/>
                <a:ea typeface="Calibri" pitchFamily="34" charset="-122"/>
                <a:cs typeface="Calibri" pitchFamily="34" charset="-120"/>
              </a:rPr>
              <a:t>Hyderabad, Telangana, India</a:t>
            </a:r>
            <a:endParaRPr lang="en-US" sz="1200" dirty="0"/>
          </a:p>
          <a:p>
            <a:pPr marL="0" indent="0" algn="ctr">
              <a:buNone/>
            </a:pPr>
            <a:r>
              <a:rPr lang="en-US" sz="1200" i="1" dirty="0">
                <a:solidFill>
                  <a:srgbClr val="777777"/>
                </a:solidFill>
                <a:latin typeface="Calibri" pitchFamily="34" charset="0"/>
                <a:ea typeface="Calibri" pitchFamily="34" charset="-122"/>
                <a:cs typeface="Calibri" pitchFamily="34" charset="-120"/>
              </a:rPr>
              <a:t>Date &amp; GPS Coordinates</a:t>
            </a:r>
            <a:endParaRPr lang="en-US" sz="1200" dirty="0"/>
          </a:p>
        </p:txBody>
      </p:sp>
      <p:pic>
        <p:nvPicPr>
          <p:cNvPr id="15" name="Picture 2" descr="Registration - Best Private University in Telangana &amp; Andhra Pradesh | KLH  Hyderabad"/>
          <p:cNvPicPr>
            <a:picLocks noChangeAspect="1" noChangeArrowheads="1"/>
          </p:cNvPicPr>
          <p:nvPr/>
        </p:nvPicPr>
        <p:blipFill>
          <a:blip r:embed="rId3"/>
          <a:srcRect/>
          <a:stretch>
            <a:fillRect/>
          </a:stretch>
        </p:blipFill>
        <p:spPr bwMode="auto">
          <a:xfrm>
            <a:off x="123113" y="73153"/>
            <a:ext cx="1529079" cy="655319"/>
          </a:xfrm>
          <a:prstGeom prst="rect">
            <a:avLst/>
          </a:prstGeom>
          <a:noFill/>
        </p:spPr>
      </p:pic>
      <p:pic>
        <p:nvPicPr>
          <p:cNvPr id="14" name="Picture 13">
            <a:extLst>
              <a:ext uri="{FF2B5EF4-FFF2-40B4-BE49-F238E27FC236}">
                <a16:creationId xmlns:a16="http://schemas.microsoft.com/office/drawing/2014/main" id="{F85D3F63-DE27-4414-AF09-AE806AB6DBA6}"/>
              </a:ext>
            </a:extLst>
          </p:cNvPr>
          <p:cNvPicPr>
            <a:picLocks noChangeAspect="1"/>
          </p:cNvPicPr>
          <p:nvPr/>
        </p:nvPicPr>
        <p:blipFill>
          <a:blip r:embed="rId4"/>
          <a:stretch>
            <a:fillRect/>
          </a:stretch>
        </p:blipFill>
        <p:spPr>
          <a:xfrm>
            <a:off x="2088456" y="728472"/>
            <a:ext cx="4967088" cy="441502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EDE6"/>
        </a:solidFill>
        <a:effectLst/>
      </p:bgPr>
    </p:bg>
    <p:spTree>
      <p:nvGrpSpPr>
        <p:cNvPr id="1" name=""/>
        <p:cNvGrpSpPr/>
        <p:nvPr/>
      </p:nvGrpSpPr>
      <p:grpSpPr>
        <a:xfrm>
          <a:off x="0" y="0"/>
          <a:ext cx="0" cy="0"/>
          <a:chOff x="0" y="0"/>
          <a:chExt cx="0" cy="0"/>
        </a:xfrm>
      </p:grpSpPr>
      <p:sp>
        <p:nvSpPr>
          <p:cNvPr id="2" name="Shape 0"/>
          <p:cNvSpPr/>
          <p:nvPr/>
        </p:nvSpPr>
        <p:spPr>
          <a:xfrm>
            <a:off x="8046720" y="-457200"/>
            <a:ext cx="1463040" cy="1463040"/>
          </a:xfrm>
          <a:prstGeom prst="ellipse">
            <a:avLst/>
          </a:prstGeom>
          <a:solidFill>
            <a:srgbClr val="C4A882">
              <a:alpha val="80000"/>
            </a:srgbClr>
          </a:solidFill>
          <a:ln w="12700">
            <a:solidFill>
              <a:srgbClr val="C4A882">
                <a:alpha val="80000"/>
              </a:srgbClr>
            </a:solidFill>
            <a:prstDash val="solid"/>
          </a:ln>
        </p:spPr>
      </p:sp>
      <p:sp>
        <p:nvSpPr>
          <p:cNvPr id="3" name="Shape 1"/>
          <p:cNvSpPr/>
          <p:nvPr/>
        </p:nvSpPr>
        <p:spPr>
          <a:xfrm>
            <a:off x="-457200" y="3840480"/>
            <a:ext cx="1828800" cy="1645920"/>
          </a:xfrm>
          <a:prstGeom prst="ellipse">
            <a:avLst/>
          </a:prstGeom>
          <a:solidFill>
            <a:srgbClr val="D9C9B0">
              <a:alpha val="70000"/>
            </a:srgbClr>
          </a:solidFill>
          <a:ln w="12700">
            <a:solidFill>
              <a:srgbClr val="D9C9B0">
                <a:alpha val="70000"/>
              </a:srgbClr>
            </a:solidFill>
            <a:prstDash val="solid"/>
          </a:ln>
        </p:spPr>
      </p:sp>
      <p:sp>
        <p:nvSpPr>
          <p:cNvPr id="4" name="Shape 2"/>
          <p:cNvSpPr/>
          <p:nvPr/>
        </p:nvSpPr>
        <p:spPr>
          <a:xfrm>
            <a:off x="7772400" y="4114800"/>
            <a:ext cx="1645920" cy="1371600"/>
          </a:xfrm>
          <a:prstGeom prst="ellipse">
            <a:avLst/>
          </a:prstGeom>
          <a:solidFill>
            <a:srgbClr val="C4A882">
              <a:alpha val="75000"/>
            </a:srgbClr>
          </a:solidFill>
          <a:ln w="12700">
            <a:solidFill>
              <a:srgbClr val="C4A882">
                <a:alpha val="75000"/>
              </a:srgbClr>
            </a:solidFill>
            <a:prstDash val="solid"/>
          </a:ln>
        </p:spPr>
      </p:sp>
      <p:sp>
        <p:nvSpPr>
          <p:cNvPr id="5" name="Shape 3"/>
          <p:cNvSpPr/>
          <p:nvPr/>
        </p:nvSpPr>
        <p:spPr>
          <a:xfrm>
            <a:off x="-731520" y="914400"/>
            <a:ext cx="2011680" cy="2286000"/>
          </a:xfrm>
          <a:prstGeom prst="ellipse">
            <a:avLst/>
          </a:prstGeom>
          <a:solidFill>
            <a:srgbClr val="D9C9B0">
              <a:alpha val="60000"/>
            </a:srgbClr>
          </a:solidFill>
          <a:ln w="12700">
            <a:solidFill>
              <a:srgbClr val="D9C9B0">
                <a:alpha val="60000"/>
              </a:srgbClr>
            </a:solidFill>
            <a:prstDash val="solid"/>
          </a:ln>
        </p:spPr>
      </p:sp>
      <p:sp>
        <p:nvSpPr>
          <p:cNvPr id="6" name="Shape 4"/>
          <p:cNvSpPr/>
          <p:nvPr/>
        </p:nvSpPr>
        <p:spPr>
          <a:xfrm>
            <a:off x="8229600" y="2560320"/>
            <a:ext cx="1371600" cy="1828800"/>
          </a:xfrm>
          <a:prstGeom prst="ellipse">
            <a:avLst/>
          </a:prstGeom>
          <a:solidFill>
            <a:srgbClr val="D9C9B0">
              <a:alpha val="50000"/>
            </a:srgbClr>
          </a:solidFill>
          <a:ln w="12700">
            <a:solidFill>
              <a:srgbClr val="D9C9B0">
                <a:alpha val="50000"/>
              </a:srgbClr>
            </a:solidFill>
            <a:prstDash val="solid"/>
          </a:ln>
        </p:spPr>
      </p:sp>
      <p:sp>
        <p:nvSpPr>
          <p:cNvPr id="8" name="Text 6"/>
          <p:cNvSpPr/>
          <p:nvPr/>
        </p:nvSpPr>
        <p:spPr>
          <a:xfrm>
            <a:off x="137160" y="91440"/>
            <a:ext cx="502920" cy="502920"/>
          </a:xfrm>
          <a:prstGeom prst="rect">
            <a:avLst/>
          </a:prstGeom>
          <a:noFill/>
          <a:ln/>
        </p:spPr>
        <p:txBody>
          <a:bodyPr wrap="square" rtlCol="0" anchor="ctr"/>
          <a:lstStyle/>
          <a:p>
            <a:pPr marL="0" indent="0" algn="ctr">
              <a:buNone/>
            </a:pPr>
            <a:r>
              <a:rPr lang="en-US" sz="800" b="1" dirty="0">
                <a:solidFill>
                  <a:srgbClr val="FFFFFF"/>
                </a:solidFill>
              </a:rPr>
              <a:t>KLH</a:t>
            </a:r>
            <a:endParaRPr lang="en-US" sz="800" dirty="0"/>
          </a:p>
        </p:txBody>
      </p:sp>
      <p:sp>
        <p:nvSpPr>
          <p:cNvPr id="9" name="Text 7"/>
          <p:cNvSpPr/>
          <p:nvPr/>
        </p:nvSpPr>
        <p:spPr>
          <a:xfrm>
            <a:off x="685800" y="73152"/>
            <a:ext cx="1097280" cy="274320"/>
          </a:xfrm>
          <a:prstGeom prst="rect">
            <a:avLst/>
          </a:prstGeom>
          <a:noFill/>
          <a:ln/>
        </p:spPr>
        <p:txBody>
          <a:bodyPr wrap="square" rtlCol="0" anchor="ctr"/>
          <a:lstStyle/>
          <a:p>
            <a:pPr marL="0" indent="0" algn="l">
              <a:buNone/>
            </a:pPr>
            <a:endParaRPr lang="en-US" sz="1300" dirty="0"/>
          </a:p>
        </p:txBody>
      </p:sp>
      <p:sp>
        <p:nvSpPr>
          <p:cNvPr id="10" name="Text 8"/>
          <p:cNvSpPr/>
          <p:nvPr/>
        </p:nvSpPr>
        <p:spPr>
          <a:xfrm>
            <a:off x="685800" y="310896"/>
            <a:ext cx="2286000" cy="182880"/>
          </a:xfrm>
          <a:prstGeom prst="rect">
            <a:avLst/>
          </a:prstGeom>
          <a:noFill/>
          <a:ln/>
        </p:spPr>
        <p:txBody>
          <a:bodyPr wrap="square" rtlCol="0" anchor="ctr"/>
          <a:lstStyle/>
          <a:p>
            <a:pPr marL="0" indent="0" algn="l">
              <a:buNone/>
            </a:pPr>
            <a:endParaRPr lang="en-US" sz="600" dirty="0"/>
          </a:p>
        </p:txBody>
      </p:sp>
      <p:sp>
        <p:nvSpPr>
          <p:cNvPr id="11" name="Text 9"/>
          <p:cNvSpPr/>
          <p:nvPr/>
        </p:nvSpPr>
        <p:spPr>
          <a:xfrm>
            <a:off x="914400" y="1645920"/>
            <a:ext cx="5486400" cy="1097280"/>
          </a:xfrm>
          <a:prstGeom prst="rect">
            <a:avLst/>
          </a:prstGeom>
          <a:noFill/>
          <a:ln/>
        </p:spPr>
        <p:txBody>
          <a:bodyPr wrap="square" rtlCol="0" anchor="ctr"/>
          <a:lstStyle/>
          <a:p>
            <a:pPr marL="0" indent="0" algn="l">
              <a:buNone/>
            </a:pPr>
            <a:r>
              <a:rPr lang="en-US" sz="5400" b="1" dirty="0">
                <a:solidFill>
                  <a:srgbClr val="5C4A00"/>
                </a:solidFill>
                <a:latin typeface="Arial Black" pitchFamily="34" charset="0"/>
                <a:ea typeface="Arial Black" pitchFamily="34" charset="-122"/>
                <a:cs typeface="Arial Black" pitchFamily="34" charset="-120"/>
              </a:rPr>
              <a:t>THANK YOU</a:t>
            </a:r>
            <a:endParaRPr lang="en-US" sz="5400" dirty="0"/>
          </a:p>
        </p:txBody>
      </p:sp>
      <p:sp>
        <p:nvSpPr>
          <p:cNvPr id="12" name="Text 10"/>
          <p:cNvSpPr/>
          <p:nvPr/>
        </p:nvSpPr>
        <p:spPr>
          <a:xfrm>
            <a:off x="5943600" y="914400"/>
            <a:ext cx="2743200" cy="2743200"/>
          </a:xfrm>
          <a:prstGeom prst="rect">
            <a:avLst/>
          </a:prstGeom>
          <a:noFill/>
          <a:ln/>
        </p:spPr>
        <p:txBody>
          <a:bodyPr wrap="square" rtlCol="0" anchor="ctr"/>
          <a:lstStyle/>
          <a:p>
            <a:pPr marL="0" indent="0" algn="ctr">
              <a:buNone/>
            </a:pPr>
            <a:r>
              <a:rPr lang="en-US" sz="8000" dirty="0">
                <a:solidFill>
                  <a:srgbClr val="000000"/>
                </a:solidFill>
              </a:rPr>
              <a:t>📋✅</a:t>
            </a:r>
            <a:endParaRPr lang="en-US" sz="8000" dirty="0"/>
          </a:p>
        </p:txBody>
      </p:sp>
      <p:pic>
        <p:nvPicPr>
          <p:cNvPr id="14" name="Picture 2" descr="Registration - Best Private University in Telangana &amp; Andhra Pradesh | KLH  Hyderabad"/>
          <p:cNvPicPr>
            <a:picLocks noChangeAspect="1" noChangeArrowheads="1"/>
          </p:cNvPicPr>
          <p:nvPr/>
        </p:nvPicPr>
        <p:blipFill>
          <a:blip r:embed="rId3"/>
          <a:srcRect/>
          <a:stretch>
            <a:fillRect/>
          </a:stretch>
        </p:blipFill>
        <p:spPr bwMode="auto">
          <a:xfrm>
            <a:off x="515620" y="173736"/>
            <a:ext cx="1529079" cy="655319"/>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TotalTime>
  <Words>1274</Words>
  <Application>Microsoft Office PowerPoint</Application>
  <PresentationFormat>On-screen Show (16:9)</PresentationFormat>
  <Paragraphs>116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FFPE - Fuel Fraud Pattern Engine</dc:title>
  <dc:subject>PptxGenJS Presentation</dc:subject>
  <dc:creator>PptxGenJS</dc:creator>
  <cp:lastModifiedBy>Aakiri Deeraj .(00010071576)</cp:lastModifiedBy>
  <cp:revision>5</cp:revision>
  <dcterms:created xsi:type="dcterms:W3CDTF">2026-03-09T09:43:41Z</dcterms:created>
  <dcterms:modified xsi:type="dcterms:W3CDTF">2026-03-10T03:42:17Z</dcterms:modified>
</cp:coreProperties>
</file>